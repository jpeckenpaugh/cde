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10b334efa7406c" /><Relationship Type="http://schemas.openxmlformats.org/officeDocument/2006/relationships/extended-properties" Target="/docProps/app.xml" Id="Re4b6199969294ba6" /><Relationship Type="http://schemas.openxmlformats.org/officeDocument/2006/relationships/officeDocument" Target="/ppt/presentation.xml" Id="Rd00db84db35e40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04050f4fe546b1"/>
  </p:sldMasterIdLst>
  <p:notesMasterIdLst>
    <p:notesMasterId xmlns:r="http://schemas.openxmlformats.org/officeDocument/2006/relationships" r:id="Ra6b1065f7a6a4431"/>
  </p:notesMasterIdLst>
  <p:sldIdLst>
    <p:sldId xmlns:r="http://schemas.openxmlformats.org/officeDocument/2006/relationships" id="256" r:id="R3ab5b8a1dfcb4647"/>
    <p:sldId xmlns:r="http://schemas.openxmlformats.org/officeDocument/2006/relationships" id="257" r:id="R9af229ea1fce4bf7"/>
    <p:sldId xmlns:r="http://schemas.openxmlformats.org/officeDocument/2006/relationships" id="258" r:id="R57274a9324a84425"/>
    <p:sldId xmlns:r="http://schemas.openxmlformats.org/officeDocument/2006/relationships" id="259" r:id="Ref043f03dbf54ed5"/>
    <p:sldId xmlns:r="http://schemas.openxmlformats.org/officeDocument/2006/relationships" id="260" r:id="Rc311946006a54cc2"/>
    <p:sldId xmlns:r="http://schemas.openxmlformats.org/officeDocument/2006/relationships" id="261" r:id="R61a7f1faf78144ec"/>
    <p:sldId xmlns:r="http://schemas.openxmlformats.org/officeDocument/2006/relationships" id="262" r:id="R36e6cd2f8c854588"/>
    <p:sldId xmlns:r="http://schemas.openxmlformats.org/officeDocument/2006/relationships" id="263" r:id="R59e425c1ee6e4e5d"/>
    <p:sldId xmlns:r="http://schemas.openxmlformats.org/officeDocument/2006/relationships" id="264" r:id="Rda517746286a497e"/>
    <p:sldId xmlns:r="http://schemas.openxmlformats.org/officeDocument/2006/relationships" id="265" r:id="R572e8177e2d64b18"/>
    <p:sldId xmlns:r="http://schemas.openxmlformats.org/officeDocument/2006/relationships" id="266" r:id="R2440ee7d57084a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b72f24864f4b9f" /><Relationship Type="http://schemas.openxmlformats.org/officeDocument/2006/relationships/slideMaster" Target="/ppt/slideMasters/slideMaster1.xml" Id="R5804050f4fe546b1" /><Relationship Type="http://schemas.openxmlformats.org/officeDocument/2006/relationships/notesMaster" Target="/ppt/notesMasters/notesMaster1.xml" Id="Ra6b1065f7a6a4431" /><Relationship Type="http://schemas.openxmlformats.org/officeDocument/2006/relationships/presProps" Target="/ppt/presProps.xml" Id="R5105e08e1a07451a" /><Relationship Type="http://schemas.openxmlformats.org/officeDocument/2006/relationships/tableStyles" Target="/ppt/tableStyles.xml" Id="R77b4934ca4f74e94" /><Relationship Type="http://schemas.openxmlformats.org/officeDocument/2006/relationships/slide" Target="/ppt/slides/slide1.xml" Id="R3ab5b8a1dfcb4647" /><Relationship Type="http://schemas.openxmlformats.org/officeDocument/2006/relationships/slide" Target="/ppt/slides/slide2.xml" Id="R9af229ea1fce4bf7" /><Relationship Type="http://schemas.openxmlformats.org/officeDocument/2006/relationships/slide" Target="/ppt/slides/slide3.xml" Id="R57274a9324a84425" /><Relationship Type="http://schemas.openxmlformats.org/officeDocument/2006/relationships/slide" Target="/ppt/slides/slide4.xml" Id="Ref043f03dbf54ed5" /><Relationship Type="http://schemas.openxmlformats.org/officeDocument/2006/relationships/slide" Target="/ppt/slides/slide5.xml" Id="Rc311946006a54cc2" /><Relationship Type="http://schemas.openxmlformats.org/officeDocument/2006/relationships/slide" Target="/ppt/slides/slide6.xml" Id="R61a7f1faf78144ec" /><Relationship Type="http://schemas.openxmlformats.org/officeDocument/2006/relationships/slide" Target="/ppt/slides/slide7.xml" Id="R36e6cd2f8c854588" /><Relationship Type="http://schemas.openxmlformats.org/officeDocument/2006/relationships/slide" Target="/ppt/slides/slide8.xml" Id="R59e425c1ee6e4e5d" /><Relationship Type="http://schemas.openxmlformats.org/officeDocument/2006/relationships/slide" Target="/ppt/slides/slide9.xml" Id="Rda517746286a497e" /><Relationship Type="http://schemas.openxmlformats.org/officeDocument/2006/relationships/slide" Target="/ppt/slides/slide10.xml" Id="R572e8177e2d64b18" /><Relationship Type="http://schemas.openxmlformats.org/officeDocument/2006/relationships/slide" Target="/ppt/slides/slide11.xml" Id="R2440ee7d57084a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d1d12cd92447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77d2b6a8ff4db0" /><Relationship Type="http://schemas.openxmlformats.org/officeDocument/2006/relationships/notesMaster" Target="/ppt/notesMasters/notesMaster1.xml" Id="R492c27f4827d49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22f62cdbed41c6" /><Relationship Type="http://schemas.openxmlformats.org/officeDocument/2006/relationships/notesMaster" Target="/ppt/notesMasters/notesMaster1.xml" Id="R2323ba46e1fb40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1d1370ce514ebf" /><Relationship Type="http://schemas.openxmlformats.org/officeDocument/2006/relationships/notesMaster" Target="/ppt/notesMasters/notesMaster1.xml" Id="Re465685d17a349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8e1a61418546fb" /><Relationship Type="http://schemas.openxmlformats.org/officeDocument/2006/relationships/notesMaster" Target="/ppt/notesMasters/notesMaster1.xml" Id="R7a67de8b21654c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195a3229674722" /><Relationship Type="http://schemas.openxmlformats.org/officeDocument/2006/relationships/notesMaster" Target="/ppt/notesMasters/notesMaster1.xml" Id="Rdac80450486f4e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68abd0b20b4d72" /><Relationship Type="http://schemas.openxmlformats.org/officeDocument/2006/relationships/notesMaster" Target="/ppt/notesMasters/notesMaster1.xml" Id="Rea4afb202dc542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1f81f5d09649f9" /><Relationship Type="http://schemas.openxmlformats.org/officeDocument/2006/relationships/notesMaster" Target="/ppt/notesMasters/notesMaster1.xml" Id="R170f2daa282b47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70bf0bf2ae4ae6" /><Relationship Type="http://schemas.openxmlformats.org/officeDocument/2006/relationships/notesMaster" Target="/ppt/notesMasters/notesMaster1.xml" Id="Rd1fe6d4cb9f84c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87e16654f04a87" /><Relationship Type="http://schemas.openxmlformats.org/officeDocument/2006/relationships/notesMaster" Target="/ppt/notesMasters/notesMaster1.xml" Id="R33793489e3eb43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b4fa77bc764ce7" /><Relationship Type="http://schemas.openxmlformats.org/officeDocument/2006/relationships/notesMaster" Target="/ppt/notesMasters/notesMaster1.xml" Id="R0323ba1244d643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686538ec7b4aaa" /><Relationship Type="http://schemas.openxmlformats.org/officeDocument/2006/relationships/notesMaster" Target="/ppt/notesMasters/notesMaster1.xml" Id="R8a909afdfd1645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fe51dac8b147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b17f3975704bf9" /><Relationship Type="http://schemas.openxmlformats.org/officeDocument/2006/relationships/slideLayout" Target="/ppt/slideLayouts/slideLayout1.xml" Id="R73447f5d1e354f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447f5d1e354f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0a534251a49a2" /><Relationship Type="http://schemas.openxmlformats.org/officeDocument/2006/relationships/notesSlide" Target="/ppt/notesSlides/notesSlide1.xml" Id="Rcc8f9f76432742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dc509375649ec" /><Relationship Type="http://schemas.openxmlformats.org/officeDocument/2006/relationships/notesSlide" Target="/ppt/notesSlides/notesSlide2.xml" Id="R427e97fbb58d48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6c7a31c878463c" /><Relationship Type="http://schemas.openxmlformats.org/officeDocument/2006/relationships/notesSlide" Target="/ppt/notesSlides/notesSlide3.xml" Id="R0766117fafab4c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f363a33364819" /><Relationship Type="http://schemas.openxmlformats.org/officeDocument/2006/relationships/notesSlide" Target="/ppt/notesSlides/notesSlide4.xml" Id="Re4e19a6f05c346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fba3f8e8340bd" /><Relationship Type="http://schemas.openxmlformats.org/officeDocument/2006/relationships/notesSlide" Target="/ppt/notesSlides/notesSlide5.xml" Id="R3d2f2ed4e19149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ebb0cd6034466" /><Relationship Type="http://schemas.openxmlformats.org/officeDocument/2006/relationships/notesSlide" Target="/ppt/notesSlides/notesSlide6.xml" Id="Rcfbd4d78ad4942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8f6b2aa6e4e6b" /><Relationship Type="http://schemas.openxmlformats.org/officeDocument/2006/relationships/notesSlide" Target="/ppt/notesSlides/notesSlide7.xml" Id="R2483f1d07cf44b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35cb188314fa0" /><Relationship Type="http://schemas.openxmlformats.org/officeDocument/2006/relationships/notesSlide" Target="/ppt/notesSlides/notesSlide8.xml" Id="R761e5d40bd5248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d0c53ee2b4028" /><Relationship Type="http://schemas.openxmlformats.org/officeDocument/2006/relationships/notesSlide" Target="/ppt/notesSlides/notesSlide9.xml" Id="Rb9787c489b6447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8f27dc56f4a93" /><Relationship Type="http://schemas.openxmlformats.org/officeDocument/2006/relationships/notesSlide" Target="/ppt/notesSlides/notesSlide10.xml" Id="Ra2ae0d1ac8f648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2f0c226b34f2a" /><Relationship Type="http://schemas.openxmlformats.org/officeDocument/2006/relationships/notesSlide" Target="/ppt/notesSlides/notesSlide11.xml" Id="R8b40cd582f2642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14857-18A8-44CB-845F-6635624C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000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Compiled Domain Expertise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66AB7-946E-4424-90B5-3E664C85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00375"/>
            <a:ext cx="885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FDBFE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BFDBFE"/>
                </a:solidFill>
                <a:latin typeface="Arial"/>
                <a:ea typeface="Arial"/>
                <a:cs typeface="Arial"/>
              </a:rPr>
              <a:t>A plain-language introduction to a proposal for dependable systems in limited domains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DF356-1223-4C91-8B60-EC479927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CBD5E1"/>
                </a:solidFill>
                <a:latin typeface="Arial"/>
                <a:ea typeface="Arial"/>
                <a:cs typeface="Arial"/>
              </a:rPr>
              <a:t>Conceptual overview</a:t>
            </a:r>
          </a:p>
        </p:txBody>
      </p:sp>
    </p:spTree>
    <p:extLst>
      <p:ext uri="{BB962C8B-B14F-4D97-AF65-F5344CB8AC3E}">
        <p14:creationId xmlns:p14="http://schemas.microsoft.com/office/powerpoint/2010/main" val="249880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E09C5-45BF-406D-8137-7E64BAE6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785CA-A383-4BD5-B854-2641D44F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6B"/>
                </a:solidFill>
                <a:latin typeface="Arial"/>
                <a:ea typeface="Arial"/>
                <a:cs typeface="Arial"/>
              </a:rPr>
              <a:t>How can a computer be dependable inside a clearly limited subject?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1D1DF-6935-4B1B-8926-1B9BE9A2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 familiar setting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0D8F3-600D-4C60-87AA-70A6A9B6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47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33"/>
                </a:solidFill>
                <a:latin typeface="Arial"/>
                <a:ea typeface="Arial"/>
                <a:cs typeface="Arial"/>
              </a:rPr>
              <a:t>Imagine one edition of a textbook, one chapter, its exercises, and its answer key. The scope is deliberate and visible.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6C8E3-158C-453E-8610-6450EA62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The goal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F7546-F1EA-49BF-961C-C3710B93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447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33"/>
                </a:solidFill>
                <a:latin typeface="Arial"/>
                <a:ea typeface="Arial"/>
                <a:cs typeface="Arial"/>
              </a:rPr>
              <a:t>Help with questions that belong to that scope. Follow the chapter’s method. Explain the path. Say so when a question goes beyond the chapter.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8DE83-EB9A-45D4-86C7-CF7FFF0D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CDE conceptual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4C8CC-25A1-407E-8F45-4C539B5B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703614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E3084E-940B-480E-A2FB-9B9FF652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Two kinds of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B616F-45F0-4113-8AF3-737300F6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6B"/>
                </a:solidFill>
                <a:latin typeface="Arial"/>
                <a:ea typeface="Arial"/>
                <a:cs typeface="Arial"/>
              </a:rPr>
              <a:t>CDE separates preparing knowledge from using 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09D7E-4E95-4E40-9657-A214A81A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A6289-D60C-4003-AA27-6CC4180F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47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33"/>
                </a:solidFill>
                <a:latin typeface="Arial"/>
                <a:ea typeface="Arial"/>
                <a:cs typeface="Arial"/>
              </a:rPr>
              <a:t>People and large language models can read source material, compare answers, propose explanations, and identify recurring reasoning steps. This is exploratory 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85F17-EFE9-493E-B974-85831FCB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F1B68-AB76-4D7F-8204-4D310C69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447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33"/>
                </a:solidFill>
                <a:latin typeface="Arial"/>
                <a:ea typeface="Arial"/>
                <a:cs typeface="Arial"/>
              </a:rPr>
              <a:t>A smaller stored artifact can apply approved steps to supported cases. This is the part intended to be repeatable and inspectable.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10DB6-EBFF-412F-BE11-2CD6CDC2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CDE conceptual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DEBC25-596E-4E9B-AB25-D347D1ED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411740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9CFF4-FDA5-4BF3-B669-0D505D74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One small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B4365-213A-486A-8F52-4B56CF00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6B"/>
                </a:solidFill>
                <a:latin typeface="Arial"/>
                <a:ea typeface="Arial"/>
                <a:cs typeface="Arial"/>
              </a:rPr>
              <a:t>A question can share its structure with many different stories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91380-F246-40E3-941E-FB577F45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2CCB2-D227-4B58-960B-B293999C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47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33"/>
                </a:solidFill>
                <a:latin typeface="Arial"/>
                <a:ea typeface="Arial"/>
                <a:cs typeface="Arial"/>
              </a:rPr>
              <a:t>“What is 1 + 2?” has an answer of 3. A teacher may explain it with apples, a number line, or counters.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83EBF-FEA6-4722-8F6F-BB76543D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Reusable 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15682-3C38-4F0C-97D8-180EEAEE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447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33"/>
                </a:solidFill>
                <a:latin typeface="Arial"/>
                <a:ea typeface="Arial"/>
                <a:cs typeface="Arial"/>
              </a:rPr>
              <a:t>The story changes. The basic steps remain: identify quantities, combine them, and state the result. CDE calls such reusable steps instructions.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CC474-CFC4-4E20-BDEA-D6EAFF24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CDE conceptual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AE1C92-29E8-4F97-A5F2-B50AAA10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31495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51083-C408-4BEE-BD22-A11F29AB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What “compiled” means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BA3C5-28E5-4910-B45F-8C655FA6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6B"/>
                </a:solidFill>
                <a:latin typeface="Arial"/>
                <a:ea typeface="Arial"/>
                <a:cs typeface="Arial"/>
              </a:rPr>
              <a:t>Keep the reusable decision structure, not every sentence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2190D-7458-4442-8FC6-3C3F2D6B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During preparation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C5A9C-02B6-4E3B-97E0-9F32BB17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47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33"/>
                </a:solidFill>
                <a:latin typeface="Arial"/>
                <a:ea typeface="Arial"/>
                <a:cs typeface="Arial"/>
              </a:rPr>
              <a:t>The system gathers candidate explanations and groups similar reasoning steps. A subject expert reviews the result against the chosen source and answer key.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84EBE-FE95-4A70-A296-E52407AE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After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AFB6C-46AD-4686-A6AC-6E22D9FA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447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33"/>
                </a:solidFill>
                <a:latin typeface="Arial"/>
                <a:ea typeface="Arial"/>
                <a:cs typeface="Arial"/>
              </a:rPr>
              <a:t>The artifact retains approved steps and their allowed connections. It does not need the full prose explanation in order to apply the stored structure.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FC8FE-5113-475E-9BAA-FADF76DD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CDE conceptual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6998B-DE7F-4EFE-A86D-79F33C5C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661175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E3646-9E7D-44AE-99D6-4C194F2D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What happens when someone asks a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D1114-27D8-4349-B80B-189A88F9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6B"/>
                </a:solidFill>
                <a:latin typeface="Arial"/>
                <a:ea typeface="Arial"/>
                <a:cs typeface="Arial"/>
              </a:rPr>
              <a:t>The system has three honest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05591-15DD-4400-8B97-11AA8950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Supported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1446F-0E5E-4C6C-AEC6-4EE1693A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47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33"/>
                </a:solidFill>
                <a:latin typeface="Arial"/>
                <a:ea typeface="Arial"/>
                <a:cs typeface="Arial"/>
              </a:rPr>
              <a:t>It recognizes the needed steps, follows the stored path, gives an answer, and can point to the steps it used.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E0081-6A13-4235-9287-CE5B27F1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Unsupported or unclear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03779-4403-4B5A-9F0F-92955E06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447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33"/>
                </a:solidFill>
                <a:latin typeface="Arial"/>
                <a:ea typeface="Arial"/>
                <a:cs typeface="Arial"/>
              </a:rPr>
              <a:t>It asks for clarification or says that the question falls outside the prepared material. It should not invent a path just to sound helpful.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CA87DD-BDA2-48FD-A085-5EBAF729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CDE conceptual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006BA-9DCE-4FA9-A4DB-149F6D5FC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86213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87D93-A4C2-46BA-B94C-A5361D4B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Why the proposal is useful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57719-E5A5-475E-9E93-760F68E3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6B"/>
                </a:solidFill>
                <a:latin typeface="Arial"/>
                <a:ea typeface="Arial"/>
                <a:cs typeface="Arial"/>
              </a:rPr>
              <a:t>The benefit comes from a limited, inspectable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779F0-BB76-4D19-A250-62A6D15A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For learners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11E26-0A29-43AB-A118-8F7BC866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47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33"/>
                </a:solidFill>
                <a:latin typeface="Arial"/>
                <a:ea typeface="Arial"/>
                <a:cs typeface="Arial"/>
              </a:rPr>
              <a:t>A tutoring system could identify the step where an answer diverged from the expected method and offer practice on that specific idea.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87E3C2-AB49-4E98-A6FA-1F13D8C2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For reviewers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AFD86-195F-4C32-9E84-75802FA7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447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33"/>
                </a:solidFill>
                <a:latin typeface="Arial"/>
                <a:ea typeface="Arial"/>
                <a:cs typeface="Arial"/>
              </a:rPr>
              <a:t>A policy or procedure tool could show which stored conditions led to a result. That supports checking and revision when source material changes.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3C1ED-CECC-495C-BD03-BA9D7B4D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CDE conceptual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D4198-BBEF-4A3D-872C-19549C01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772755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E3428-4148-4CB2-B1E1-D96FF3AD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hardest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526270-F82F-493D-81A6-F0DCBEFE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6B"/>
                </a:solidFill>
                <a:latin typeface="Arial"/>
                <a:ea typeface="Arial"/>
                <a:cs typeface="Arial"/>
              </a:rPr>
              <a:t>Understanding the question correctly remains essential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C84B5-2758-4AB0-A39E-E2C3584E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Language varies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1A1DD-7BC3-4839-A197-87940550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47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33"/>
                </a:solidFill>
                <a:latin typeface="Arial"/>
                <a:ea typeface="Arial"/>
                <a:cs typeface="Arial"/>
              </a:rPr>
              <a:t>People can ask the same question in many ways. A system must map those variations to the intended stored steps.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5663D-1EDC-496C-9A23-C44719DD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A clear limit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8E25C-75FF-471A-BF1A-E85538D0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447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33"/>
                </a:solidFill>
                <a:latin typeface="Arial"/>
                <a:ea typeface="Arial"/>
                <a:cs typeface="Arial"/>
              </a:rPr>
              <a:t>If that mapping is wrong, a deterministic core can still produce a well-formed result for the wrong interpretation. CDE does not remove this risk.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3A7E7-D3AC-4676-938F-5687A2CC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CDE conceptual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6FF10-2BD0-4022-826D-44642A74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848348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B11E3-690D-4A4C-B57C-4B4A33FD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What CDE does and does not claim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F2F99-7C7D-4AF5-982D-5E4B6F60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6B"/>
                </a:solidFill>
                <a:latin typeface="Arial"/>
                <a:ea typeface="Arial"/>
                <a:cs typeface="Arial"/>
              </a:rPr>
              <a:t>A bounded tool has a bounded promise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E8FD1-FD78-4359-A3AC-724E10B6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It proposes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73EA7-A703-4BF9-B68A-F72A460B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47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33"/>
                </a:solidFill>
                <a:latin typeface="Arial"/>
                <a:ea typeface="Arial"/>
                <a:cs typeface="Arial"/>
              </a:rPr>
              <a:t>A way to make the execution of a prepared domain more repeatable, attributable, and explicit about its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D9A26-3EC4-4890-82A3-A1005164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It does not propose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B5AE1-9477-4D4F-80F4-BB22BE3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447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33"/>
                </a:solidFill>
                <a:latin typeface="Arial"/>
                <a:ea typeface="Arial"/>
                <a:cs typeface="Arial"/>
              </a:rPr>
              <a:t>General intelligence, automatic truth, a replacement for expert review, or a reliable answer to every question people may ask.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ABE4B-0975-413A-9C25-00A477D1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CDE conceptual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1E44C-A9CF-484F-BF69-B265ADB0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853109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769CE9-DD3D-4330-B86B-2292381C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Possible starting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300802-6CC9-4DB0-AE46-51A86309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6B"/>
                </a:solidFill>
                <a:latin typeface="Arial"/>
                <a:ea typeface="Arial"/>
                <a:cs typeface="Arial"/>
              </a:rPr>
              <a:t>The best candidates have a clear source, version, scope, and answer key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1C34B0-7BE8-4DFD-95EB-D223E377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76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Education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06166-67FC-413E-B5B7-73410AEB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47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33"/>
                </a:solidFill>
                <a:latin typeface="Arial"/>
                <a:ea typeface="Arial"/>
                <a:cs typeface="Arial"/>
              </a:rPr>
              <a:t>A textbook chapter, a course module, or a certification unit can provide a fixed body of exercises and expected methods.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6F38C7-99F8-4161-9655-A6D02862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Procedures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7AED3-F03E-4734-BE4A-FB5B0E1F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447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2033"/>
                </a:solidFill>
                <a:latin typeface="Arial"/>
                <a:ea typeface="Arial"/>
                <a:cs typeface="Arial"/>
              </a:rPr>
              <a:t>A versioned policy checklist or structured operational process can provide explicit conditions and defined outcomes.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4403D-0A22-453B-BE81-C9C3F7E0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CDE conceptual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7A207-09A0-4D01-8FF6-40CEEF72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360326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374D9-9356-46AA-9632-38F87AFC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next research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32D71-B636-4E4E-8F8E-B6C42F7D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52616B"/>
                </a:solidFill>
                <a:latin typeface="Arial"/>
                <a:ea typeface="Arial"/>
                <a:cs typeface="Arial"/>
              </a:rPr>
              <a:t>Can the interpretation layer be made small and reliable enough for the intended domain?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75F97-BD5E-4471-9955-5E9EC298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172033"/>
                </a:solidFill>
                <a:latin typeface="Arial"/>
                <a:ea typeface="Arial"/>
                <a:cs typeface="Arial"/>
              </a:rPr>
              <a:t>The proposal stands or falls on evidence: how well can varied human language be mapped to the stored reasoning structure, and how clearly can the system report uncertainty when it cannot?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0B532-D074-4437-90D0-B941D667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CDE conceptual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2830D5-8732-405E-A5F0-E1CAC4E8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821056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2026-09-11T23:34:50.7710000Z</dcterms:created>
  <dcterms:modified xsi:type="dcterms:W3CDTF">2026-09-11T23:34:50.7710000Z</dcterms:modified>
</coreProperties>
</file>