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Today we present Compiled Domain Expertise (CDE). We address the core vulnerabilities of frontier AI—probabilistic drift, parameter bloat, and unverifiable reasoning—by compiling bounded human expertise into static, deterministic, CPU-executable instruction sets.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substrate operates over raw language tokens rather than domain states, every downstream operation inherits open-world ambiguity and continuous floating-point overhead.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generation is governed entirely by likelihood. The model lacks any built-in mechanism to distinguish truth from plausible falsehood.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CoT feels like deliberate human reasoning, but under the hood, it is simply more probabilistic tokens generated on the same ungrounded substrate.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CoT does not escape the probabilistic stack. When intermediate steps drift, the model simply rationalizes the mistake.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Layering agents simply moves uncertainty in a circle. To achieve deterministic integrity, verification cannot rely on continuous neural inference at runtime.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want reliability, we don't start with the open web. We start with a bounded domain. An arithmetic textbook has fixed rules, a tiny set of operations, and an explicit answer key.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define an Attestation as the pairing of an input X to an output Y. '1 + 1 = 2' is a True Attestation because the textbook's answer key asserts it. But we need C, the reasoning, to understand how it works.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Reasoning is the wordy story. Thoughts are the atomic sequential steps. Ideas are the generalized, reusable mathematical primitives that will become our opcodes.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teacher might explain 1 + 2 using a number line instead of apples. But when boiled down, you don't discover a new universe of math—you lock into the exact same Ideas.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3 introduces subtraction. We reuse initial cardinality and equality assertion from earlier problems, inducing just one new Idea: DECREMENT. Our Idea vocabulary is controlled.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Empirical Knowledge Compilation uses high-capacity models offline. We feed the chapter context and answer keys, extract the CoT, and lower it into a clean relational database.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what happened: continuous neural tokens crystallized into a normalized SQL database. When you audit why 1 + 1 = 2, you run a SQL join. We have exited the probabilistic stack.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compile the entire textbook, but make a deliberate hard stop at its final page. This discrete set of tables is the Quantized Semantic Bottleneck. Anything within is verified; anything outside is halted.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lower our tables into a Domain Instruction Set binary. Every Idea becomes an opcode. It fits in less than 1 megabyte and runs on bare-metal CPUs in microseconds.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throw the LLM away. It translates student questions at the top, and at the bottom, it upscales verified opcode traces into rich, engaging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10-year-old studies with an ungrounded LLM, parents see an AI tutor, but engineers see open-world liabilities: sycophancy, privacy leaks, and wrong methods.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CDE provides deterministic diagnostic tutoring. When a student misses three questions, Discriminate pinpoints the exact broken step, and Correlate traces all three back to a single upstream root cause.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local model trained only on teacher dialogue and the textbook is safe by construction. Because logic is discrete, we can build educational games where the math is always certifiably sound.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system runs on bare metal, it can safely accumulate a deep memory profile: concept mastery, study time, and fatigue signals—without ever leaking student data.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Personality becomes an interchangeable skin. Domains stack cleanly: math connects to science, and alongside them sits a School Nurse module teaching nutrition and exercise with safe escalation boundaries.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answered the opening question. The infinite regress terminates because the kernel is deterministic integer logic, and ground truth is stipulated by a versioned artifact.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entire engineering comparison at a glance: gigabytes vs. megabytes, cloud GPUs vs. bare silicon, silent hallucination vs. loud syntax halts.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Compiled Domain Expertise demonstrates that domain competence does not require continuous deep neural inference. Within a versioned domain, expertise can be compiled into an exact, auditable, permanent instruction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2895" cy="3200400"/>
          </a:xfrm>
          <a:prstGeom prst="rect">
            <a:avLst/>
          </a:prstGeom>
          <a:noFill/>
        </p:spPr>
        <p:txBody>
          <a:bodyPr wrap="square">
            <a:spAutoFit/>
          </a:bodyPr>
          <a:lstStyle/>
          <a:p>
            <a:pPr>
              <a:defRPr sz="4000" b="1">
                <a:solidFill>
                  <a:srgbClr val="FFFFFF"/>
                </a:solidFill>
                <a:latin typeface="Arial"/>
              </a:defRPr>
            </a:pPr>
            <a:r>
              <a:t>COMPILED DOMAIN EXPERTISE</a:t>
            </a:r>
          </a:p>
          <a:p>
            <a:pPr>
              <a:spcBef>
                <a:spcPts val="1400"/>
              </a:spcBef>
              <a:defRPr sz="2000">
                <a:solidFill>
                  <a:srgbClr val="93C5FD"/>
                </a:solidFill>
                <a:latin typeface="Arial"/>
              </a:defRPr>
            </a:pPr>
            <a:r>
              <a:t>The Quantized Semantic Bottleneck Architecture (QSBA) &amp; Domain Instruction Sets</a:t>
            </a:r>
          </a:p>
          <a:p>
            <a:pPr>
              <a:spcBef>
                <a:spcPts val="2400"/>
              </a:spcBef>
              <a:defRPr sz="1400">
                <a:solidFill>
                  <a:srgbClr val="CBD5E1"/>
                </a:solidFill>
                <a:latin typeface="Arial"/>
              </a:defRPr>
            </a:pPr>
            <a:r>
              <a:t>Severing Knowledge Acquisition from Knowledge Execution for Deterministic Verification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1: The Substrate — Tokens and Giant Vocabularies</a:t>
            </a:r>
          </a:p>
          <a:p>
            <a:pPr>
              <a:spcBef>
                <a:spcPts val="400"/>
              </a:spcBef>
              <a:defRPr sz="1300">
                <a:solidFill>
                  <a:srgbClr val="475569"/>
                </a:solidFill>
                <a:latin typeface="Arial"/>
              </a:defRPr>
            </a:pPr>
            <a:r>
              <a:t>Frontier LLMs operate over high-dimensional continuous manifolds</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Tokenization &amp; Vocabulary Penalty</a:t>
            </a:r>
          </a:p>
          <a:p>
            <a:pPr>
              <a:spcBef>
                <a:spcPts val="1000"/>
              </a:spcBef>
              <a:defRPr sz="1300">
                <a:solidFill>
                  <a:srgbClr val="1E293B"/>
                </a:solidFill>
                <a:latin typeface="Arial"/>
              </a:defRPr>
            </a:pPr>
            <a:r>
              <a:t>• Arbitrary Tokenization: Words and subwords are encoded into arbitrary integer token IDs.</a:t>
            </a:r>
          </a:p>
          <a:p>
            <a:pPr>
              <a:spcBef>
                <a:spcPts val="1000"/>
              </a:spcBef>
              <a:defRPr sz="1300">
                <a:solidFill>
                  <a:srgbClr val="1E293B"/>
                </a:solidFill>
                <a:latin typeface="Arial"/>
              </a:defRPr>
            </a:pPr>
            <a:r>
              <a:t>• Massive Global Search Space: At every step, operations compute across 50,000 to 100,000+ token vocabularies.</a:t>
            </a:r>
          </a:p>
          <a:p>
            <a:pPr>
              <a:spcBef>
                <a:spcPts val="1000"/>
              </a:spcBef>
              <a:defRPr sz="1300">
                <a:solidFill>
                  <a:srgbClr val="1E293B"/>
                </a:solidFill>
                <a:latin typeface="Arial"/>
              </a:defRPr>
            </a:pPr>
            <a:r>
              <a:t>• Input Projection Burden: Every human prompt must be projected across dense, continuous embedding spaces before reasoning begins.</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475569"/>
                </a:solidFill>
                <a:latin typeface="Arial"/>
              </a:defRPr>
            </a:pPr>
            <a:r>
              <a:t>The Open-World Dilemma</a:t>
            </a:r>
          </a:p>
          <a:p>
            <a:pPr>
              <a:spcBef>
                <a:spcPts val="1000"/>
              </a:spcBef>
              <a:defRPr sz="1300">
                <a:solidFill>
                  <a:srgbClr val="1E293B"/>
                </a:solidFill>
                <a:latin typeface="Arial"/>
              </a:defRPr>
            </a:pPr>
            <a:r>
              <a:t>• Unbounded Knowledge Scope: The model ingests open-domain web data, mixing verified logic with unverified prose.</a:t>
            </a:r>
          </a:p>
          <a:p>
            <a:pPr>
              <a:spcBef>
                <a:spcPts val="1000"/>
              </a:spcBef>
              <a:defRPr sz="1300">
                <a:solidFill>
                  <a:srgbClr val="1E293B"/>
                </a:solidFill>
                <a:latin typeface="Arial"/>
              </a:defRPr>
            </a:pPr>
            <a:r>
              <a:t>• No Architectural Separation: Computational logic and linguistic phrasing occupy the exact same floating-point substrate.</a:t>
            </a:r>
          </a:p>
          <a:p>
            <a:pPr>
              <a:spcBef>
                <a:spcPts val="1000"/>
              </a:spcBef>
              <a:defRPr sz="1300">
                <a:solidFill>
                  <a:srgbClr val="1E293B"/>
                </a:solidFill>
                <a:latin typeface="Arial"/>
              </a:defRPr>
            </a:pPr>
            <a:r>
              <a:t>• Inherited Ambiguity: Because the model's atomic unit is a text fragment rather than a verified domain state, ambiguity enters at step zero.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2: The Mechanism — Probabilistic Token Prediction</a:t>
            </a:r>
          </a:p>
          <a:p>
            <a:pPr>
              <a:spcBef>
                <a:spcPts val="400"/>
              </a:spcBef>
              <a:defRPr sz="1300">
                <a:solidFill>
                  <a:srgbClr val="475569"/>
                </a:solidFill>
                <a:latin typeface="Arial"/>
              </a:defRPr>
            </a:pPr>
            <a:r>
              <a:t>P(Token_{t+1} | Context): Likelihood is not truth</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Statistical Plausibility</a:t>
            </a:r>
          </a:p>
          <a:p>
            <a:pPr>
              <a:spcBef>
                <a:spcPts val="1000"/>
              </a:spcBef>
              <a:defRPr sz="1300">
                <a:solidFill>
                  <a:srgbClr val="1E293B"/>
                </a:solidFill>
                <a:latin typeface="Arial"/>
              </a:defRPr>
            </a:pPr>
            <a:r>
              <a:t>• Surface Emulation: Models generate what is statistically likely based on pretraining distributions, not what is logically necessary.</a:t>
            </a:r>
          </a:p>
          <a:p>
            <a:pPr>
              <a:spcBef>
                <a:spcPts val="1000"/>
              </a:spcBef>
              <a:defRPr sz="1300">
                <a:solidFill>
                  <a:srgbClr val="1E293B"/>
                </a:solidFill>
                <a:latin typeface="Arial"/>
              </a:defRPr>
            </a:pPr>
            <a:r>
              <a:t>• No Grounding Gate: The neural architecture lacks native logic gates to evaluate True vs. False or Reality vs. Hallucination.</a:t>
            </a:r>
          </a:p>
          <a:p>
            <a:pPr>
              <a:spcBef>
                <a:spcPts val="1000"/>
              </a:spcBef>
              <a:defRPr sz="1300">
                <a:solidFill>
                  <a:srgbClr val="1E293B"/>
                </a:solidFill>
                <a:latin typeface="Arial"/>
              </a:defRPr>
            </a:pPr>
            <a:r>
              <a:t>• Continuous Manifold Drift: Minor perturbations in input prompts cause unpredictable shifts across high-dimensional latent space.</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E11D48"/>
                </a:solidFill>
                <a:latin typeface="Arial"/>
              </a:defRPr>
            </a:pPr>
            <a:r>
              <a:t>Inherent Veracity Blindspots</a:t>
            </a:r>
          </a:p>
          <a:p>
            <a:pPr>
              <a:spcBef>
                <a:spcPts val="1000"/>
              </a:spcBef>
              <a:defRPr sz="1300">
                <a:solidFill>
                  <a:srgbClr val="1E293B"/>
                </a:solidFill>
                <a:latin typeface="Arial"/>
              </a:defRPr>
            </a:pPr>
            <a:r>
              <a:t>• Circular Logic &amp; Paradoxes: Models routinely assert contradictions (C and not-C) if the phrasing sounds contextually authoritative.</a:t>
            </a:r>
          </a:p>
          <a:p>
            <a:pPr>
              <a:spcBef>
                <a:spcPts val="1000"/>
              </a:spcBef>
              <a:defRPr sz="1300">
                <a:solidFill>
                  <a:srgbClr val="1E293B"/>
                </a:solidFill>
                <a:latin typeface="Arial"/>
              </a:defRPr>
            </a:pPr>
            <a:r>
              <a:t>• Global Pull Penalty: Sampling from a global dictionary exposes every query to out-of-domain drift and inappropriate associations.</a:t>
            </a:r>
          </a:p>
          <a:p>
            <a:pPr>
              <a:spcBef>
                <a:spcPts val="1000"/>
              </a:spcBef>
              <a:defRPr sz="1300">
                <a:solidFill>
                  <a:srgbClr val="1E293B"/>
                </a:solidFill>
                <a:latin typeface="Arial"/>
              </a:defRPr>
            </a:pPr>
            <a:r>
              <a:t>• Silent Failures: The model produces plausible, polished explanations even when the underlying factual derivation is broken.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3: The Band-Aid — Chain of Thought (CoT)</a:t>
            </a:r>
          </a:p>
          <a:p>
            <a:pPr>
              <a:spcBef>
                <a:spcPts val="400"/>
              </a:spcBef>
              <a:defRPr sz="1300">
                <a:solidFill>
                  <a:srgbClr val="475569"/>
                </a:solidFill>
                <a:latin typeface="Arial"/>
              </a:defRPr>
            </a:pPr>
            <a:r>
              <a:t>Simulating deliberation through intermediate token generation</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The Concept of CoT</a:t>
            </a:r>
          </a:p>
          <a:p>
            <a:pPr>
              <a:spcBef>
                <a:spcPts val="1000"/>
              </a:spcBef>
              <a:defRPr sz="1300">
                <a:solidFill>
                  <a:srgbClr val="1E293B"/>
                </a:solidFill>
                <a:latin typeface="Arial"/>
              </a:defRPr>
            </a:pPr>
            <a:r>
              <a:t>• Stopping to 'Think': Prompting or training models to emit an intermediate token stream before emitting the final answer.</a:t>
            </a:r>
          </a:p>
          <a:p>
            <a:pPr>
              <a:spcBef>
                <a:spcPts val="1000"/>
              </a:spcBef>
              <a:defRPr sz="1300">
                <a:solidFill>
                  <a:srgbClr val="1E293B"/>
                </a:solidFill>
                <a:latin typeface="Arial"/>
              </a:defRPr>
            </a:pPr>
            <a:r>
              <a:t>• Simulated Deliberation: Emulates step-by-step human work, planning, and scratchpad arithmetic.</a:t>
            </a:r>
          </a:p>
          <a:p>
            <a:pPr>
              <a:spcBef>
                <a:spcPts val="1000"/>
              </a:spcBef>
              <a:defRPr sz="1300">
                <a:solidFill>
                  <a:srgbClr val="1E293B"/>
                </a:solidFill>
                <a:latin typeface="Arial"/>
              </a:defRPr>
            </a:pPr>
            <a:r>
              <a:t>• Working Context Extension: Intermediate tokens provide richer self-attention context, nudging the probability curve toward better answers.</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475569"/>
                </a:solidFill>
                <a:latin typeface="Arial"/>
              </a:defRPr>
            </a:pPr>
            <a:r>
              <a:t>The Mechanical Reality</a:t>
            </a:r>
          </a:p>
          <a:p>
            <a:pPr>
              <a:spcBef>
                <a:spcPts val="1000"/>
              </a:spcBef>
              <a:defRPr sz="1300">
                <a:solidFill>
                  <a:srgbClr val="1E293B"/>
                </a:solidFill>
                <a:latin typeface="Arial"/>
              </a:defRPr>
            </a:pPr>
            <a:r>
              <a:t>• Tokens, Not Thoughts: The intermediate stream does not represent conscious reasoning; it is just another autoregressive token sequence.</a:t>
            </a:r>
          </a:p>
          <a:p>
            <a:pPr>
              <a:spcBef>
                <a:spcPts val="1000"/>
              </a:spcBef>
              <a:defRPr sz="1300">
                <a:solidFill>
                  <a:srgbClr val="1E293B"/>
                </a:solidFill>
                <a:latin typeface="Arial"/>
              </a:defRPr>
            </a:pPr>
            <a:r>
              <a:t>• No Hardware Anchor: The scratchpad steps are generated on the exact same stochastic floating-point substrate as the final output.</a:t>
            </a:r>
          </a:p>
          <a:p>
            <a:pPr>
              <a:spcBef>
                <a:spcPts val="1000"/>
              </a:spcBef>
              <a:defRPr sz="1300">
                <a:solidFill>
                  <a:srgbClr val="1E293B"/>
                </a:solidFill>
                <a:latin typeface="Arial"/>
              </a:defRPr>
            </a:pPr>
            <a:r>
              <a:t>• Compute Multiplication: Emitting 500 'thinking' tokens multiplies runtime latency, cloud GPU costs, and memory footprints.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4: The CoT Breakdown — Inherited Probabilistic Debt</a:t>
            </a:r>
          </a:p>
          <a:p>
            <a:pPr>
              <a:spcBef>
                <a:spcPts val="400"/>
              </a:spcBef>
              <a:defRPr sz="1300">
                <a:solidFill>
                  <a:srgbClr val="475569"/>
                </a:solidFill>
                <a:latin typeface="Arial"/>
              </a:defRPr>
            </a:pPr>
            <a:r>
              <a:t>Compounding errors and the illusion of verification</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E11D48"/>
                </a:solidFill>
                <a:latin typeface="Arial"/>
              </a:defRPr>
            </a:pPr>
            <a:r>
              <a:t>Compounding Drift</a:t>
            </a:r>
          </a:p>
          <a:p>
            <a:pPr>
              <a:spcBef>
                <a:spcPts val="1000"/>
              </a:spcBef>
              <a:defRPr sz="1300">
                <a:solidFill>
                  <a:srgbClr val="1E293B"/>
                </a:solidFill>
                <a:latin typeface="Arial"/>
              </a:defRPr>
            </a:pPr>
            <a:r>
              <a:t>• No Ground Truth Gate: There is still no internal arbiter to determine if an intermediate thought is correct, irrelevant, or hallucinatory.</a:t>
            </a:r>
          </a:p>
          <a:p>
            <a:pPr>
              <a:spcBef>
                <a:spcPts val="1000"/>
              </a:spcBef>
              <a:defRPr sz="1300">
                <a:solidFill>
                  <a:srgbClr val="1E293B"/>
                </a:solidFill>
                <a:latin typeface="Arial"/>
              </a:defRPr>
            </a:pPr>
            <a:r>
              <a:t>• Error Amplification: If step 3 of a 10-step chain introduces an invalid premise, subsequent tokens plausibly rationalize the false premise rather than correcting it.</a:t>
            </a:r>
          </a:p>
          <a:p>
            <a:pPr>
              <a:spcBef>
                <a:spcPts val="1000"/>
              </a:spcBef>
              <a:defRPr sz="1300">
                <a:solidFill>
                  <a:srgbClr val="1E293B"/>
                </a:solidFill>
                <a:latin typeface="Arial"/>
              </a:defRPr>
            </a:pPr>
            <a:r>
              <a:t>• Stochastic Fragility: The reasoning chain is highly sensitive to token sampling temperature and minor prompt variations.</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475569"/>
                </a:solidFill>
                <a:latin typeface="Arial"/>
              </a:defRPr>
            </a:pPr>
            <a:r>
              <a:t>The Epistemic Illusion</a:t>
            </a:r>
          </a:p>
          <a:p>
            <a:pPr>
              <a:spcBef>
                <a:spcPts val="1000"/>
              </a:spcBef>
              <a:defRPr sz="1300">
                <a:solidFill>
                  <a:srgbClr val="1E293B"/>
                </a:solidFill>
                <a:latin typeface="Arial"/>
              </a:defRPr>
            </a:pPr>
            <a:r>
              <a:t>• Right Answer, Wrong Work: Models frequently arrive at correct final answers via invalid, paradoxical, or hallucinatory derivations.</a:t>
            </a:r>
          </a:p>
          <a:p>
            <a:pPr>
              <a:spcBef>
                <a:spcPts val="1000"/>
              </a:spcBef>
              <a:defRPr sz="1300">
                <a:solidFill>
                  <a:srgbClr val="1E293B"/>
                </a:solidFill>
                <a:latin typeface="Arial"/>
              </a:defRPr>
            </a:pPr>
            <a:r>
              <a:t>• Rationalization Engine: The model justifies its output post-hoc, masking broken reasoning behind polished, confident prose.</a:t>
            </a:r>
          </a:p>
          <a:p>
            <a:pPr>
              <a:spcBef>
                <a:spcPts val="1000"/>
              </a:spcBef>
              <a:defRPr sz="1300">
                <a:solidFill>
                  <a:srgbClr val="1E293B"/>
                </a:solidFill>
                <a:latin typeface="Arial"/>
              </a:defRPr>
            </a:pPr>
            <a:r>
              <a:t>• The Core Deficiency: More tokens cannot solve the absence of an external, inspectable ground-truth anchor.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5: The Dead-End — Policing Probability with Probability</a:t>
            </a:r>
          </a:p>
          <a:p>
            <a:pPr>
              <a:spcBef>
                <a:spcPts val="400"/>
              </a:spcBef>
              <a:defRPr sz="1300">
                <a:solidFill>
                  <a:srgbClr val="475569"/>
                </a:solidFill>
                <a:latin typeface="Arial"/>
              </a:defRPr>
            </a:pPr>
            <a:r>
              <a:t>The verification trap: 'Who verifies the verifier?'</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The Multi-Agent Supervisor Loop</a:t>
            </a:r>
          </a:p>
          <a:p>
            <a:pPr>
              <a:spcBef>
                <a:spcPts val="1000"/>
              </a:spcBef>
              <a:defRPr sz="1300">
                <a:solidFill>
                  <a:srgbClr val="1E293B"/>
                </a:solidFill>
                <a:latin typeface="Arial"/>
              </a:defRPr>
            </a:pPr>
            <a:r>
              <a:t>• The Watchdog Pattern: Deploying secondary 'judge' or 'critic' LLMs to scan the CoT and output tokens of the primary model.</a:t>
            </a:r>
          </a:p>
          <a:p>
            <a:pPr>
              <a:spcBef>
                <a:spcPts val="1000"/>
              </a:spcBef>
              <a:defRPr sz="1300">
                <a:solidFill>
                  <a:srgbClr val="1E293B"/>
                </a:solidFill>
                <a:latin typeface="Arial"/>
              </a:defRPr>
            </a:pPr>
            <a:r>
              <a:t>• Trigger Scanning: Inspecting streams for triggers like 'harmful', 'illogical', 'false', or 'unsupported premise'.</a:t>
            </a:r>
          </a:p>
          <a:p>
            <a:pPr>
              <a:spcBef>
                <a:spcPts val="1000"/>
              </a:spcBef>
              <a:defRPr sz="1300">
                <a:solidFill>
                  <a:srgbClr val="1E293B"/>
                </a:solidFill>
                <a:latin typeface="Arial"/>
              </a:defRPr>
            </a:pPr>
            <a:r>
              <a:t>• Recursive Agent Hierarchies: Layering reviewers on top of implementers, and auditors on top of reviewers.</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E11D48"/>
                </a:solidFill>
                <a:latin typeface="Arial"/>
              </a:defRPr>
            </a:pPr>
            <a:r>
              <a:t>The Fundamental Dead-End</a:t>
            </a:r>
          </a:p>
          <a:p>
            <a:pPr>
              <a:spcBef>
                <a:spcPts val="1000"/>
              </a:spcBef>
              <a:defRPr sz="1300">
                <a:solidFill>
                  <a:srgbClr val="1E293B"/>
                </a:solidFill>
                <a:latin typeface="Arial"/>
              </a:defRPr>
            </a:pPr>
            <a:r>
              <a:t>• Probability Policing Probability: The supervisor model is subject to the exact same failure modes as the generator.</a:t>
            </a:r>
          </a:p>
          <a:p>
            <a:pPr>
              <a:spcBef>
                <a:spcPts val="1000"/>
              </a:spcBef>
              <a:defRPr sz="1300">
                <a:solidFill>
                  <a:srgbClr val="1E293B"/>
                </a:solidFill>
                <a:latin typeface="Arial"/>
              </a:defRPr>
            </a:pPr>
            <a:r>
              <a:t>• Agreement is Not Proof: Two probabilistic systems agreeing is merely evidence of shared training priors—it is not deterministic proof.</a:t>
            </a:r>
          </a:p>
          <a:p>
            <a:pPr>
              <a:spcBef>
                <a:spcPts val="1000"/>
              </a:spcBef>
              <a:defRPr sz="1300">
                <a:solidFill>
                  <a:srgbClr val="1E293B"/>
                </a:solidFill>
                <a:latin typeface="Arial"/>
              </a:defRPr>
            </a:pPr>
            <a:r>
              <a:t>• The Infinite Regress: Who audits the auditor? Moving uncertainty in a circle does not remove uncertainty.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6: The Grounding Baseline — The Arithmetic Mathbook</a:t>
            </a:r>
          </a:p>
          <a:p>
            <a:pPr>
              <a:spcBef>
                <a:spcPts val="400"/>
              </a:spcBef>
              <a:defRPr sz="1300">
                <a:solidFill>
                  <a:srgbClr val="475569"/>
                </a:solidFill>
                <a:latin typeface="Arial"/>
              </a:defRPr>
            </a:pPr>
            <a:r>
              <a:t>A simplified model of a closed knowledge domain</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Closed by Construction</a:t>
            </a:r>
          </a:p>
          <a:p>
            <a:pPr>
              <a:spcBef>
                <a:spcPts val="1000"/>
              </a:spcBef>
              <a:defRPr sz="1300">
                <a:solidFill>
                  <a:srgbClr val="1E293B"/>
                </a:solidFill>
                <a:latin typeface="Arial"/>
              </a:defRPr>
            </a:pPr>
            <a:r>
              <a:t>• A Deliberately Bounded Universe: Consider a 3rd-grade arithmetic textbook. Its scope is completely fixed by its table of contents.</a:t>
            </a:r>
          </a:p>
          <a:p>
            <a:pPr>
              <a:spcBef>
                <a:spcPts val="1000"/>
              </a:spcBef>
              <a:defRPr sz="1300">
                <a:solidFill>
                  <a:srgbClr val="1E293B"/>
                </a:solidFill>
                <a:latin typeface="Arial"/>
              </a:defRPr>
            </a:pPr>
            <a:r>
              <a:t>• No Open-World Bleed: It does not contain calculus, quantum mechanics, or internet opinions. Boundaries are explicit.</a:t>
            </a:r>
          </a:p>
          <a:p>
            <a:pPr>
              <a:spcBef>
                <a:spcPts val="1000"/>
              </a:spcBef>
              <a:defRPr sz="1300">
                <a:solidFill>
                  <a:srgbClr val="1E293B"/>
                </a:solidFill>
                <a:latin typeface="Arial"/>
              </a:defRPr>
            </a:pPr>
            <a:r>
              <a:t>• Finite Operational Vocabulary: Solving every problem in the book requires only a tiny, discrete set of operations: +, -, x, /.</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0D9488"/>
                </a:solidFill>
                <a:latin typeface="Arial"/>
              </a:defRPr>
            </a:pPr>
            <a:r>
              <a:t>Answer Keys as Formal Specification</a:t>
            </a:r>
          </a:p>
          <a:p>
            <a:pPr>
              <a:spcBef>
                <a:spcPts val="1000"/>
              </a:spcBef>
              <a:defRPr sz="1300">
                <a:solidFill>
                  <a:srgbClr val="1E293B"/>
                </a:solidFill>
                <a:latin typeface="Arial"/>
              </a:defRPr>
            </a:pPr>
            <a:r>
              <a:t>• Reframing 'Data Leakage': In traditional ML, exposing the answer key is leakage. In domain compilation, the Teacher's Edition (X, Y) is the exact specification.</a:t>
            </a:r>
          </a:p>
          <a:p>
            <a:pPr>
              <a:spcBef>
                <a:spcPts val="1000"/>
              </a:spcBef>
              <a:defRPr sz="1300">
                <a:solidFill>
                  <a:srgbClr val="1E293B"/>
                </a:solidFill>
                <a:latin typeface="Arial"/>
              </a:defRPr>
            </a:pPr>
            <a:r>
              <a:t>• Stipulated Ground Truth: Truth is not an ungrounded metaphysical question; it is stipulated by the versioned textbook edition.</a:t>
            </a:r>
          </a:p>
          <a:p>
            <a:pPr>
              <a:spcBef>
                <a:spcPts val="1000"/>
              </a:spcBef>
              <a:defRPr sz="1300">
                <a:solidFill>
                  <a:srgbClr val="1E293B"/>
                </a:solidFill>
                <a:latin typeface="Arial"/>
              </a:defRPr>
            </a:pPr>
            <a:r>
              <a:t>• Deterministic Expectation: We demand that the system execute arithmetic with exact procedural precision, not statistical guessing.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7: Chapter 1, Unit 1, Question 1 — The Attestation</a:t>
            </a:r>
          </a:p>
          <a:p>
            <a:pPr>
              <a:spcBef>
                <a:spcPts val="400"/>
              </a:spcBef>
              <a:defRPr sz="1300">
                <a:solidFill>
                  <a:srgbClr val="475569"/>
                </a:solidFill>
                <a:latin typeface="Arial"/>
              </a:defRPr>
            </a:pPr>
            <a:r>
              <a:t>Defining X (Question) -&gt; Y (Answer) and the attestation atom</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The Attestation Atom</a:t>
            </a:r>
          </a:p>
          <a:p>
            <a:pPr>
              <a:spcBef>
                <a:spcPts val="1000"/>
              </a:spcBef>
              <a:defRPr sz="1300">
                <a:solidFill>
                  <a:srgbClr val="1E293B"/>
                </a:solidFill>
                <a:latin typeface="Arial"/>
              </a:defRPr>
            </a:pPr>
            <a:r>
              <a:t>• The Primary Pair (X -&gt; Y): An input state X paired with an asserted terminal state Y.</a:t>
            </a:r>
          </a:p>
          <a:p>
            <a:pPr>
              <a:spcBef>
                <a:spcPts val="1000"/>
              </a:spcBef>
              <a:defRPr sz="1300">
                <a:solidFill>
                  <a:srgbClr val="1E293B"/>
                </a:solidFill>
                <a:latin typeface="Arial"/>
              </a:defRPr>
            </a:pPr>
            <a:r>
              <a:t>• X (Input Question): 'What is 1 + 1?'</a:t>
            </a:r>
          </a:p>
          <a:p>
            <a:pPr>
              <a:spcBef>
                <a:spcPts val="1000"/>
              </a:spcBef>
              <a:defRPr sz="1300">
                <a:solidFill>
                  <a:srgbClr val="1E293B"/>
                </a:solidFill>
                <a:latin typeface="Arial"/>
              </a:defRPr>
            </a:pPr>
            <a:r>
              <a:t>• Y (Terminal State): '2'</a:t>
            </a:r>
          </a:p>
          <a:p>
            <a:pPr>
              <a:spcBef>
                <a:spcPts val="1000"/>
              </a:spcBef>
              <a:defRPr sz="1300">
                <a:solidFill>
                  <a:srgbClr val="1E293B"/>
                </a:solidFill>
                <a:latin typeface="Arial"/>
              </a:defRPr>
            </a:pPr>
            <a:r>
              <a:t>• The Attestation: The formal binding of (1 + 1 -&gt; 2) within the domain.</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475569"/>
                </a:solidFill>
                <a:latin typeface="Arial"/>
              </a:defRPr>
            </a:pPr>
            <a:r>
              <a:t>True vs. False Attestations</a:t>
            </a:r>
          </a:p>
          <a:p>
            <a:pPr>
              <a:spcBef>
                <a:spcPts val="1000"/>
              </a:spcBef>
              <a:defRPr sz="1300">
                <a:solidFill>
                  <a:srgbClr val="1E293B"/>
                </a:solidFill>
                <a:latin typeface="Arial"/>
              </a:defRPr>
            </a:pPr>
            <a:r>
              <a:t>• True Attestation: (1 + 1 -&gt; 2) is validated directly against the Chapter 1 Teacher Answer Key.</a:t>
            </a:r>
          </a:p>
          <a:p>
            <a:pPr>
              <a:spcBef>
                <a:spcPts val="1000"/>
              </a:spcBef>
              <a:defRPr sz="1300">
                <a:solidFill>
                  <a:srgbClr val="1E293B"/>
                </a:solidFill>
                <a:latin typeface="Arial"/>
              </a:defRPr>
            </a:pPr>
            <a:r>
              <a:t>• False Attestations: (1 + 1 -&gt; 3) or (1 + 1 -&gt; 1) are explicitly invalid state assertions.</a:t>
            </a:r>
          </a:p>
          <a:p>
            <a:pPr>
              <a:spcBef>
                <a:spcPts val="1000"/>
              </a:spcBef>
              <a:defRPr sz="1300">
                <a:solidFill>
                  <a:srgbClr val="1E293B"/>
                </a:solidFill>
                <a:latin typeface="Arial"/>
              </a:defRPr>
            </a:pPr>
            <a:r>
              <a:t>• Stipulated Validity: (1 + 1 -&gt; 2) is true within this system because the versioned textbook explicitly stipulates it as true.</a:t>
            </a:r>
          </a:p>
          <a:p>
            <a:pPr>
              <a:spcBef>
                <a:spcPts val="1000"/>
              </a:spcBef>
              <a:defRPr sz="1300">
                <a:solidFill>
                  <a:srgbClr val="1E293B"/>
                </a:solidFill>
                <a:latin typeface="Arial"/>
              </a:defRPr>
            </a:pPr>
            <a:r>
              <a:t>• Beyond Flashcards: Memorizing (X, Y) is not enough. We must extract the intermediate layer: C (Reasoning).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8: Under the Hood of 1 + 1 = 2 — Reasoning, Thoughts, Ideas</a:t>
            </a:r>
          </a:p>
          <a:p>
            <a:pPr>
              <a:spcBef>
                <a:spcPts val="400"/>
              </a:spcBef>
              <a:defRPr sz="1300">
                <a:solidFill>
                  <a:srgbClr val="475569"/>
                </a:solidFill>
                <a:latin typeface="Arial"/>
              </a:defRPr>
            </a:pPr>
            <a:r>
              <a:t>Deconstructing C into reusable structural primitives</a:t>
            </a:r>
          </a:p>
        </p:txBody>
      </p:sp>
      <p:sp>
        <p:nvSpPr>
          <p:cNvPr id="4" name="Rounded Rectangle 3"/>
          <p:cNvSpPr/>
          <p:nvPr/>
        </p:nvSpPr>
        <p:spPr>
          <a:xfrm>
            <a:off x="7315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2834640" cy="4023360"/>
          </a:xfrm>
          <a:prstGeom prst="rect">
            <a:avLst/>
          </a:prstGeom>
          <a:noFill/>
        </p:spPr>
        <p:txBody>
          <a:bodyPr wrap="square" lIns="0" tIns="0" rIns="0" bIns="0">
            <a:spAutoFit/>
          </a:bodyPr>
          <a:lstStyle/>
          <a:p>
            <a:pPr>
              <a:spcAft>
                <a:spcPts val="800"/>
              </a:spcAft>
              <a:defRPr sz="1500" b="1">
                <a:solidFill>
                  <a:srgbClr val="475569"/>
                </a:solidFill>
                <a:latin typeface="Arial"/>
              </a:defRPr>
            </a:pPr>
            <a:r>
              <a:t>C: Reasoning (Narrative)</a:t>
            </a:r>
          </a:p>
          <a:p>
            <a:pPr>
              <a:spcBef>
                <a:spcPts val="800"/>
              </a:spcBef>
              <a:defRPr sz="1200">
                <a:solidFill>
                  <a:srgbClr val="1E293B"/>
                </a:solidFill>
                <a:latin typeface="Arial"/>
              </a:defRPr>
            </a:pPr>
            <a:r>
              <a:t>• Raw Teacher Explanation: 'You place one apple on a table. You add another apple next to it. Counting them together gives two.'</a:t>
            </a:r>
          </a:p>
          <a:p>
            <a:pPr>
              <a:spcBef>
                <a:spcPts val="800"/>
              </a:spcBef>
              <a:defRPr sz="1200">
                <a:solidFill>
                  <a:srgbClr val="1E293B"/>
                </a:solidFill>
                <a:latin typeface="Arial"/>
              </a:defRPr>
            </a:pPr>
            <a:r>
              <a:t>• Contextual &amp; Wordy: Specific to apples, tables, and narrative style.</a:t>
            </a:r>
          </a:p>
        </p:txBody>
      </p:sp>
      <p:sp>
        <p:nvSpPr>
          <p:cNvPr id="6" name="Rounded Rectangle 5"/>
          <p:cNvSpPr/>
          <p:nvPr/>
        </p:nvSpPr>
        <p:spPr>
          <a:xfrm>
            <a:off x="4389120" y="1645920"/>
            <a:ext cx="32918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28800"/>
            <a:ext cx="28346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Thoughts (Atomic Steps)</a:t>
            </a:r>
          </a:p>
          <a:p>
            <a:pPr>
              <a:spcBef>
                <a:spcPts val="800"/>
              </a:spcBef>
              <a:defRPr sz="1200">
                <a:solidFill>
                  <a:srgbClr val="1E293B"/>
                </a:solidFill>
                <a:latin typeface="Arial"/>
              </a:defRPr>
            </a:pPr>
            <a:r>
              <a:t>• Thought 1: Identify initial unit quantity (1).</a:t>
            </a:r>
          </a:p>
          <a:p>
            <a:pPr>
              <a:spcBef>
                <a:spcPts val="800"/>
              </a:spcBef>
              <a:defRPr sz="1200">
                <a:solidFill>
                  <a:srgbClr val="1E293B"/>
                </a:solidFill>
                <a:latin typeface="Arial"/>
              </a:defRPr>
            </a:pPr>
            <a:r>
              <a:t>• Thought 2: Identify incoming unit quantity (1).</a:t>
            </a:r>
          </a:p>
          <a:p>
            <a:pPr>
              <a:spcBef>
                <a:spcPts val="800"/>
              </a:spcBef>
              <a:defRPr sz="1200">
                <a:solidFill>
                  <a:srgbClr val="1E293B"/>
                </a:solidFill>
                <a:latin typeface="Arial"/>
              </a:defRPr>
            </a:pPr>
            <a:r>
              <a:t>• Thought 3: Combine both units into a set.</a:t>
            </a:r>
          </a:p>
          <a:p>
            <a:pPr>
              <a:spcBef>
                <a:spcPts val="800"/>
              </a:spcBef>
              <a:defRPr sz="1200">
                <a:solidFill>
                  <a:srgbClr val="1E293B"/>
                </a:solidFill>
                <a:latin typeface="Arial"/>
              </a:defRPr>
            </a:pPr>
            <a:r>
              <a:t>• Thought 4: Count elements to determine set cardinality (2).</a:t>
            </a:r>
          </a:p>
        </p:txBody>
      </p:sp>
      <p:sp>
        <p:nvSpPr>
          <p:cNvPr id="8" name="Rounded Rectangle 7"/>
          <p:cNvSpPr/>
          <p:nvPr/>
        </p:nvSpPr>
        <p:spPr>
          <a:xfrm>
            <a:off x="8046720" y="1645920"/>
            <a:ext cx="33832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1828800"/>
            <a:ext cx="2926080" cy="4023360"/>
          </a:xfrm>
          <a:prstGeom prst="rect">
            <a:avLst/>
          </a:prstGeom>
          <a:noFill/>
        </p:spPr>
        <p:txBody>
          <a:bodyPr wrap="square" lIns="0" tIns="0" rIns="0" bIns="0">
            <a:spAutoFit/>
          </a:bodyPr>
          <a:lstStyle/>
          <a:p>
            <a:pPr>
              <a:spcAft>
                <a:spcPts val="800"/>
              </a:spcAft>
              <a:defRPr sz="1500" b="1">
                <a:solidFill>
                  <a:srgbClr val="0D9488"/>
                </a:solidFill>
                <a:latin typeface="Arial"/>
              </a:defRPr>
            </a:pPr>
            <a:r>
              <a:t>Ideas (Canonical Opcodes)</a:t>
            </a:r>
          </a:p>
          <a:p>
            <a:pPr>
              <a:spcBef>
                <a:spcPts val="800"/>
              </a:spcBef>
              <a:defRPr sz="1200">
                <a:solidFill>
                  <a:srgbClr val="1E293B"/>
                </a:solidFill>
                <a:latin typeface="Arial"/>
              </a:defRPr>
            </a:pPr>
            <a:r>
              <a:t>• Idea A: MAP_INTEGER_TO_SET (Establishing cardinality).</a:t>
            </a:r>
          </a:p>
          <a:p>
            <a:pPr>
              <a:spcBef>
                <a:spcPts val="800"/>
              </a:spcBef>
              <a:defRPr sz="1200">
                <a:solidFill>
                  <a:srgbClr val="1E293B"/>
                </a:solidFill>
                <a:latin typeface="Arial"/>
              </a:defRPr>
            </a:pPr>
            <a:r>
              <a:t>• Idea B: INCREMENT_BY_UNIT (Applying additive successor).</a:t>
            </a:r>
          </a:p>
          <a:p>
            <a:pPr>
              <a:spcBef>
                <a:spcPts val="800"/>
              </a:spcBef>
              <a:defRPr sz="1200">
                <a:solidFill>
                  <a:srgbClr val="1E293B"/>
                </a:solidFill>
                <a:latin typeface="Arial"/>
              </a:defRPr>
            </a:pPr>
            <a:r>
              <a:t>• Idea C: ASSERT_EQUALITY (Binding count to terminal symbol).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9: Chapter 1, Question 2: 1 + 2 = 3 — Invariance Under Variation</a:t>
            </a:r>
          </a:p>
          <a:p>
            <a:pPr>
              <a:spcBef>
                <a:spcPts val="400"/>
              </a:spcBef>
              <a:defRPr sz="1300">
                <a:solidFill>
                  <a:srgbClr val="475569"/>
                </a:solidFill>
                <a:latin typeface="Arial"/>
              </a:defRPr>
            </a:pPr>
            <a:r>
              <a:t>Surface stories change; underlying Ideas remain invariant</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475569"/>
                </a:solidFill>
                <a:latin typeface="Arial"/>
              </a:defRPr>
            </a:pPr>
            <a:r>
              <a:t>Surface Variation (X2 -&gt; Y2)</a:t>
            </a:r>
          </a:p>
          <a:p>
            <a:pPr>
              <a:spcBef>
                <a:spcPts val="1000"/>
              </a:spcBef>
              <a:defRPr sz="1300">
                <a:solidFill>
                  <a:srgbClr val="1E293B"/>
                </a:solidFill>
                <a:latin typeface="Arial"/>
              </a:defRPr>
            </a:pPr>
            <a:r>
              <a:t>• New Problem: 'What is 1 + 2?' -&gt; '3' (True Attestation).</a:t>
            </a:r>
          </a:p>
          <a:p>
            <a:pPr>
              <a:spcBef>
                <a:spcPts val="1000"/>
              </a:spcBef>
              <a:defRPr sz="1300">
                <a:solidFill>
                  <a:srgbClr val="1E293B"/>
                </a:solidFill>
                <a:latin typeface="Arial"/>
              </a:defRPr>
            </a:pPr>
            <a:r>
              <a:t>• A Completely Different Story: 'Start at point 1 on a number line. Take two hops of one unit to the right. You land on 3.'</a:t>
            </a:r>
          </a:p>
          <a:p>
            <a:pPr>
              <a:spcBef>
                <a:spcPts val="1000"/>
              </a:spcBef>
              <a:defRPr sz="1300">
                <a:solidFill>
                  <a:srgbClr val="1E293B"/>
                </a:solidFill>
                <a:latin typeface="Arial"/>
              </a:defRPr>
            </a:pPr>
            <a:r>
              <a:t>• Unique Thoughts: Hop 1 (1 -&gt; 2), Hop 2 (2 -&gt; 3), Register position 3.</a:t>
            </a:r>
          </a:p>
          <a:p>
            <a:pPr>
              <a:spcBef>
                <a:spcPts val="1000"/>
              </a:spcBef>
              <a:defRPr sz="1300">
                <a:solidFill>
                  <a:srgbClr val="1E293B"/>
                </a:solidFill>
                <a:latin typeface="Arial"/>
              </a:defRPr>
            </a:pPr>
            <a:r>
              <a:t>• Linguistic Shift: Moves from physical apples to spatial movement on a line.</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16A34A"/>
                </a:solidFill>
                <a:latin typeface="Arial"/>
              </a:defRPr>
            </a:pPr>
            <a:r>
              <a:t>Locking into the Same Ideas</a:t>
            </a:r>
          </a:p>
          <a:p>
            <a:pPr>
              <a:spcBef>
                <a:spcPts val="1000"/>
              </a:spcBef>
              <a:defRPr sz="1300">
                <a:solidFill>
                  <a:srgbClr val="1E293B"/>
                </a:solidFill>
                <a:latin typeface="Arial"/>
              </a:defRPr>
            </a:pPr>
            <a:r>
              <a:t>• Zero New Concepts: Despite the change in story, it boils down to the exact same Ideas from Question 1:</a:t>
            </a:r>
          </a:p>
          <a:p>
            <a:pPr>
              <a:spcBef>
                <a:spcPts val="1000"/>
              </a:spcBef>
              <a:defRPr sz="1300">
                <a:solidFill>
                  <a:srgbClr val="1E293B"/>
                </a:solidFill>
                <a:latin typeface="Arial"/>
              </a:defRPr>
            </a:pPr>
            <a:r>
              <a:t>• • Idea A: SET_ORIGIN / MAP_INTEGER_TO_SET</a:t>
            </a:r>
          </a:p>
          <a:p>
            <a:pPr>
              <a:spcBef>
                <a:spcPts val="1000"/>
              </a:spcBef>
              <a:defRPr sz="1300">
                <a:solidFill>
                  <a:srgbClr val="1E293B"/>
                </a:solidFill>
                <a:latin typeface="Arial"/>
              </a:defRPr>
            </a:pPr>
            <a:r>
              <a:t>• • Idea B: INCREMENT_BY_UNIT (Executed twice)</a:t>
            </a:r>
          </a:p>
          <a:p>
            <a:pPr>
              <a:spcBef>
                <a:spcPts val="1000"/>
              </a:spcBef>
              <a:defRPr sz="1300">
                <a:solidFill>
                  <a:srgbClr val="1E293B"/>
                </a:solidFill>
                <a:latin typeface="Arial"/>
              </a:defRPr>
            </a:pPr>
            <a:r>
              <a:t>• • Idea C: ASSERT_EQUALITY</a:t>
            </a:r>
          </a:p>
          <a:p>
            <a:pPr>
              <a:spcBef>
                <a:spcPts val="1000"/>
              </a:spcBef>
              <a:defRPr sz="1300">
                <a:solidFill>
                  <a:srgbClr val="1E293B"/>
                </a:solidFill>
                <a:latin typeface="Arial"/>
              </a:defRPr>
            </a:pPr>
            <a:r>
              <a:t>• Rapid Stabilization: The number of wordy thoughts grows, but the discovery of new Ideas quickly drops toward zero.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10: Chapter 1, Question 3: 2 - 1 = 1 — Introducing Contrast</a:t>
            </a:r>
          </a:p>
          <a:p>
            <a:pPr>
              <a:spcBef>
                <a:spcPts val="400"/>
              </a:spcBef>
              <a:defRPr sz="1300">
                <a:solidFill>
                  <a:srgbClr val="475569"/>
                </a:solidFill>
                <a:latin typeface="Arial"/>
              </a:defRPr>
            </a:pPr>
            <a:r>
              <a:t>Reusing shared foundations while inducing the inverse operator</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475569"/>
                </a:solidFill>
                <a:latin typeface="Arial"/>
              </a:defRPr>
            </a:pPr>
            <a:r>
              <a:t>The Subtraction Attestation</a:t>
            </a:r>
          </a:p>
          <a:p>
            <a:pPr>
              <a:spcBef>
                <a:spcPts val="1000"/>
              </a:spcBef>
              <a:defRPr sz="1300">
                <a:solidFill>
                  <a:srgbClr val="1E293B"/>
                </a:solidFill>
                <a:latin typeface="Arial"/>
              </a:defRPr>
            </a:pPr>
            <a:r>
              <a:t>• New Problem: 'What is 2 - 1?' -&gt; '1' (True Attestation).</a:t>
            </a:r>
          </a:p>
          <a:p>
            <a:pPr>
              <a:spcBef>
                <a:spcPts val="1000"/>
              </a:spcBef>
              <a:defRPr sz="1300">
                <a:solidFill>
                  <a:srgbClr val="1E293B"/>
                </a:solidFill>
                <a:latin typeface="Arial"/>
              </a:defRPr>
            </a:pPr>
            <a:r>
              <a:t>• The Narrative: 'Two cookies on a plate. You give one cookie away. One cookie remains.'</a:t>
            </a:r>
          </a:p>
          <a:p>
            <a:pPr>
              <a:spcBef>
                <a:spcPts val="1000"/>
              </a:spcBef>
              <a:defRPr sz="1300">
                <a:solidFill>
                  <a:srgbClr val="1E293B"/>
                </a:solidFill>
                <a:latin typeface="Arial"/>
              </a:defRPr>
            </a:pPr>
            <a:r>
              <a:t>• Intermediate Thoughts: Identify start (2), recognize minus sign as removal, remove 1 item, evaluate remainder (1).</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Foundations Reused, Inverse Induced</a:t>
            </a:r>
          </a:p>
          <a:p>
            <a:pPr>
              <a:spcBef>
                <a:spcPts val="1000"/>
              </a:spcBef>
              <a:defRPr sz="1300">
                <a:solidFill>
                  <a:srgbClr val="1E293B"/>
                </a:solidFill>
                <a:latin typeface="Arial"/>
              </a:defRPr>
            </a:pPr>
            <a:r>
              <a:t>• Reusing Shared Foundations: Idea A (Cardinality) and Idea C (Equality Assertion) are reused unchanged.</a:t>
            </a:r>
          </a:p>
          <a:p>
            <a:pPr>
              <a:spcBef>
                <a:spcPts val="1000"/>
              </a:spcBef>
              <a:defRPr sz="1300">
                <a:solidFill>
                  <a:srgbClr val="1E293B"/>
                </a:solidFill>
                <a:latin typeface="Arial"/>
              </a:defRPr>
            </a:pPr>
            <a:r>
              <a:t>• One New Idea Induced: Idea D: DECREMENT_BY_UNIT (Inverse successor operator).</a:t>
            </a:r>
          </a:p>
          <a:p>
            <a:pPr>
              <a:spcBef>
                <a:spcPts val="1000"/>
              </a:spcBef>
              <a:defRPr sz="1300">
                <a:solidFill>
                  <a:srgbClr val="1E293B"/>
                </a:solidFill>
                <a:latin typeface="Arial"/>
              </a:defRPr>
            </a:pPr>
            <a:r>
              <a:t>• Architectural Composition: In three questions, addition and subtraction are captured with just four canonical Ideas.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11: The Build-Time Engine — Empirical Knowledge Compilation</a:t>
            </a:r>
          </a:p>
          <a:p>
            <a:pPr>
              <a:spcBef>
                <a:spcPts val="400"/>
              </a:spcBef>
              <a:defRPr sz="1300">
                <a:solidFill>
                  <a:srgbClr val="475569"/>
                </a:solidFill>
                <a:latin typeface="Arial"/>
              </a:defRPr>
            </a:pPr>
            <a:r>
              <a:t>Offline teacher interrogation across closed domain context</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The Offline Compilation Protocol</a:t>
            </a:r>
          </a:p>
          <a:p>
            <a:pPr>
              <a:spcBef>
                <a:spcPts val="1000"/>
              </a:spcBef>
              <a:defRPr sz="1300">
                <a:solidFill>
                  <a:srgbClr val="1E293B"/>
                </a:solidFill>
                <a:latin typeface="Arial"/>
              </a:defRPr>
            </a:pPr>
            <a:r>
              <a:t>• The LLM as Compiler: The frontier model is deployed offline in the factory, never to end-users at runtime.</a:t>
            </a:r>
          </a:p>
          <a:p>
            <a:pPr>
              <a:spcBef>
                <a:spcPts val="1000"/>
              </a:spcBef>
              <a:defRPr sz="1300">
                <a:solidFill>
                  <a:srgbClr val="1E293B"/>
                </a:solidFill>
                <a:latin typeface="Arial"/>
              </a:defRPr>
            </a:pPr>
            <a:r>
              <a:t>• Three Build-Time Inputs: (1) Chapter 1 Full Text Context, (2) Question X, (3) Candidate Y (both True and False answers).</a:t>
            </a:r>
          </a:p>
          <a:p>
            <a:pPr>
              <a:spcBef>
                <a:spcPts val="1000"/>
              </a:spcBef>
              <a:defRPr sz="1300">
                <a:solidFill>
                  <a:srgbClr val="1E293B"/>
                </a:solidFill>
                <a:latin typeface="Arial"/>
              </a:defRPr>
            </a:pPr>
            <a:r>
              <a:t>• Directive: 'Grounding yourself strictly in Chapter 1, show your complete work in justifying or refuting why X yields Y.'</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0D9488"/>
                </a:solidFill>
                <a:latin typeface="Arial"/>
              </a:defRPr>
            </a:pPr>
            <a:r>
              <a:t>The 3-Step Lowering Pipeline</a:t>
            </a:r>
          </a:p>
          <a:p>
            <a:pPr>
              <a:spcBef>
                <a:spcPts val="1000"/>
              </a:spcBef>
              <a:defRPr sz="1300">
                <a:solidFill>
                  <a:srgbClr val="1E293B"/>
                </a:solidFill>
                <a:latin typeface="Arial"/>
              </a:defRPr>
            </a:pPr>
            <a:r>
              <a:t>• 1. Capture Reasoning (C): Save the raw generative CoT trace as an introspective rationale.</a:t>
            </a:r>
          </a:p>
          <a:p>
            <a:pPr>
              <a:spcBef>
                <a:spcPts val="1000"/>
              </a:spcBef>
              <a:defRPr sz="1300">
                <a:solidFill>
                  <a:srgbClr val="1E293B"/>
                </a:solidFill>
                <a:latin typeface="Arial"/>
              </a:defRPr>
            </a:pPr>
            <a:r>
              <a:t>• 2. Deconstruct into Thoughts: Segment the narrative into atomic, ordered sequential steps.</a:t>
            </a:r>
          </a:p>
          <a:p>
            <a:pPr>
              <a:spcBef>
                <a:spcPts val="1000"/>
              </a:spcBef>
              <a:defRPr sz="1300">
                <a:solidFill>
                  <a:srgbClr val="1E293B"/>
                </a:solidFill>
                <a:latin typeface="Arial"/>
              </a:defRPr>
            </a:pPr>
            <a:r>
              <a:t>• 3. Canonicalize into Ideas: Index and deduplicate each thought to its underlying invariant opcode.</a:t>
            </a:r>
          </a:p>
          <a:p>
            <a:pPr>
              <a:spcBef>
                <a:spcPts val="1000"/>
              </a:spcBef>
              <a:defRPr sz="1300">
                <a:solidFill>
                  <a:srgbClr val="1E293B"/>
                </a:solidFill>
                <a:latin typeface="Arial"/>
              </a:defRPr>
            </a:pPr>
            <a:r>
              <a:t>• From Fluff to Structure: Messy neural generation crystallizes into an explicit relational database.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12: From Neural Traces to Bare-Metal Tables — The Relational Schema</a:t>
            </a:r>
          </a:p>
          <a:p>
            <a:pPr>
              <a:spcBef>
                <a:spcPts val="400"/>
              </a:spcBef>
              <a:defRPr sz="1300">
                <a:solidFill>
                  <a:srgbClr val="475569"/>
                </a:solidFill>
                <a:latin typeface="Arial"/>
              </a:defRPr>
            </a:pPr>
            <a:r>
              <a:t>Normalized lookup tables replace continuous probability</a:t>
            </a:r>
          </a:p>
        </p:txBody>
      </p:sp>
      <p:sp>
        <p:nvSpPr>
          <p:cNvPr id="4" name="Rounded Rectangle 3"/>
          <p:cNvSpPr/>
          <p:nvPr/>
        </p:nvSpPr>
        <p:spPr>
          <a:xfrm>
            <a:off x="731520" y="1645920"/>
            <a:ext cx="2468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2011680" cy="4023360"/>
          </a:xfrm>
          <a:prstGeom prst="rect">
            <a:avLst/>
          </a:prstGeom>
          <a:noFill/>
        </p:spPr>
        <p:txBody>
          <a:bodyPr wrap="square" lIns="0" tIns="0" rIns="0" bIns="0">
            <a:spAutoFit/>
          </a:bodyPr>
          <a:lstStyle/>
          <a:p>
            <a:pPr>
              <a:spcAft>
                <a:spcPts val="800"/>
              </a:spcAft>
              <a:defRPr sz="1500" b="1">
                <a:solidFill>
                  <a:srgbClr val="475569"/>
                </a:solidFill>
                <a:latin typeface="Arial"/>
              </a:defRPr>
            </a:pPr>
            <a:r>
              <a:t>QUESTIONS (X)</a:t>
            </a:r>
          </a:p>
          <a:p>
            <a:pPr>
              <a:spcBef>
                <a:spcPts val="800"/>
              </a:spcBef>
              <a:defRPr sz="1200">
                <a:solidFill>
                  <a:srgbClr val="1E293B"/>
                </a:solidFill>
                <a:latin typeface="Arial"/>
              </a:defRPr>
            </a:pPr>
            <a:r>
              <a:t>• id (PK)</a:t>
            </a:r>
          </a:p>
          <a:p>
            <a:pPr>
              <a:spcBef>
                <a:spcPts val="800"/>
              </a:spcBef>
              <a:defRPr sz="1200">
                <a:solidFill>
                  <a:srgbClr val="1E293B"/>
                </a:solidFill>
                <a:latin typeface="Arial"/>
              </a:defRPr>
            </a:pPr>
            <a:r>
              <a:t>• text ('1 + 1')</a:t>
            </a:r>
          </a:p>
          <a:p>
            <a:pPr>
              <a:spcBef>
                <a:spcPts val="800"/>
              </a:spcBef>
              <a:defRPr sz="1200">
                <a:solidFill>
                  <a:srgbClr val="1E293B"/>
                </a:solidFill>
                <a:latin typeface="Arial"/>
              </a:defRPr>
            </a:pPr>
            <a:r>
              <a:t>• chapter_ref</a:t>
            </a:r>
          </a:p>
          <a:p>
            <a:pPr>
              <a:spcBef>
                <a:spcPts val="800"/>
              </a:spcBef>
              <a:defRPr sz="1200">
                <a:solidFill>
                  <a:srgbClr val="1E293B"/>
                </a:solidFill>
                <a:latin typeface="Arial"/>
              </a:defRPr>
            </a:pPr>
            <a:r>
              <a:t>• Stores invariant problem specs</a:t>
            </a:r>
          </a:p>
        </p:txBody>
      </p:sp>
      <p:sp>
        <p:nvSpPr>
          <p:cNvPr id="6" name="Rounded Rectangle 5"/>
          <p:cNvSpPr/>
          <p:nvPr/>
        </p:nvSpPr>
        <p:spPr>
          <a:xfrm>
            <a:off x="3474720" y="1645920"/>
            <a:ext cx="2468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703320" y="1828800"/>
            <a:ext cx="201168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REASONINGS (C)</a:t>
            </a:r>
          </a:p>
          <a:p>
            <a:pPr>
              <a:spcBef>
                <a:spcPts val="800"/>
              </a:spcBef>
              <a:defRPr sz="1200">
                <a:solidFill>
                  <a:srgbClr val="1E293B"/>
                </a:solidFill>
                <a:latin typeface="Arial"/>
              </a:defRPr>
            </a:pPr>
            <a:r>
              <a:t>• id (PK)</a:t>
            </a:r>
          </a:p>
          <a:p>
            <a:pPr>
              <a:spcBef>
                <a:spcPts val="800"/>
              </a:spcBef>
              <a:defRPr sz="1200">
                <a:solidFill>
                  <a:srgbClr val="1E293B"/>
                </a:solidFill>
                <a:latin typeface="Arial"/>
              </a:defRPr>
            </a:pPr>
            <a:r>
              <a:t>• question_id (FK)</a:t>
            </a:r>
          </a:p>
          <a:p>
            <a:pPr>
              <a:spcBef>
                <a:spcPts val="800"/>
              </a:spcBef>
              <a:defRPr sz="1200">
                <a:solidFill>
                  <a:srgbClr val="1E293B"/>
                </a:solidFill>
                <a:latin typeface="Arial"/>
              </a:defRPr>
            </a:pPr>
            <a:r>
              <a:t>• terminal_y ('2')</a:t>
            </a:r>
          </a:p>
          <a:p>
            <a:pPr>
              <a:spcBef>
                <a:spcPts val="800"/>
              </a:spcBef>
              <a:defRPr sz="1200">
                <a:solidFill>
                  <a:srgbClr val="1E293B"/>
                </a:solidFill>
                <a:latin typeface="Arial"/>
              </a:defRPr>
            </a:pPr>
            <a:r>
              <a:t>• type (TRUE/FALSE)</a:t>
            </a:r>
          </a:p>
          <a:p>
            <a:pPr>
              <a:spcBef>
                <a:spcPts val="800"/>
              </a:spcBef>
              <a:defRPr sz="1200">
                <a:solidFill>
                  <a:srgbClr val="1E293B"/>
                </a:solidFill>
                <a:latin typeface="Arial"/>
              </a:defRPr>
            </a:pPr>
            <a:r>
              <a:t>• Derivation tree</a:t>
            </a:r>
          </a:p>
        </p:txBody>
      </p:sp>
      <p:sp>
        <p:nvSpPr>
          <p:cNvPr id="8" name="Rounded Rectangle 7"/>
          <p:cNvSpPr/>
          <p:nvPr/>
        </p:nvSpPr>
        <p:spPr>
          <a:xfrm>
            <a:off x="6217920" y="1645920"/>
            <a:ext cx="2468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828800"/>
            <a:ext cx="2011680" cy="4023360"/>
          </a:xfrm>
          <a:prstGeom prst="rect">
            <a:avLst/>
          </a:prstGeom>
          <a:noFill/>
        </p:spPr>
        <p:txBody>
          <a:bodyPr wrap="square" lIns="0" tIns="0" rIns="0" bIns="0">
            <a:spAutoFit/>
          </a:bodyPr>
          <a:lstStyle/>
          <a:p>
            <a:pPr>
              <a:spcAft>
                <a:spcPts val="800"/>
              </a:spcAft>
              <a:defRPr sz="1500" b="1">
                <a:solidFill>
                  <a:srgbClr val="475569"/>
                </a:solidFill>
                <a:latin typeface="Arial"/>
              </a:defRPr>
            </a:pPr>
            <a:r>
              <a:t>THOUGHTS</a:t>
            </a:r>
          </a:p>
          <a:p>
            <a:pPr>
              <a:spcBef>
                <a:spcPts val="800"/>
              </a:spcBef>
              <a:defRPr sz="1200">
                <a:solidFill>
                  <a:srgbClr val="1E293B"/>
                </a:solidFill>
                <a:latin typeface="Arial"/>
              </a:defRPr>
            </a:pPr>
            <a:r>
              <a:t>• id (PK)</a:t>
            </a:r>
          </a:p>
          <a:p>
            <a:pPr>
              <a:spcBef>
                <a:spcPts val="800"/>
              </a:spcBef>
              <a:defRPr sz="1200">
                <a:solidFill>
                  <a:srgbClr val="1E293B"/>
                </a:solidFill>
                <a:latin typeface="Arial"/>
              </a:defRPr>
            </a:pPr>
            <a:r>
              <a:t>• reasoning_id (FK)</a:t>
            </a:r>
          </a:p>
          <a:p>
            <a:pPr>
              <a:spcBef>
                <a:spcPts val="800"/>
              </a:spcBef>
              <a:defRPr sz="1200">
                <a:solidFill>
                  <a:srgbClr val="1E293B"/>
                </a:solidFill>
                <a:latin typeface="Arial"/>
              </a:defRPr>
            </a:pPr>
            <a:r>
              <a:t>• sequence_order</a:t>
            </a:r>
          </a:p>
          <a:p>
            <a:pPr>
              <a:spcBef>
                <a:spcPts val="800"/>
              </a:spcBef>
              <a:defRPr sz="1200">
                <a:solidFill>
                  <a:srgbClr val="1E293B"/>
                </a:solidFill>
                <a:latin typeface="Arial"/>
              </a:defRPr>
            </a:pPr>
            <a:r>
              <a:t>• idea_id (FK)</a:t>
            </a:r>
          </a:p>
          <a:p>
            <a:pPr>
              <a:spcBef>
                <a:spcPts val="800"/>
              </a:spcBef>
              <a:defRPr sz="1200">
                <a:solidFill>
                  <a:srgbClr val="1E293B"/>
                </a:solidFill>
                <a:latin typeface="Arial"/>
              </a:defRPr>
            </a:pPr>
            <a:r>
              <a:t>• Normalized steps</a:t>
            </a:r>
          </a:p>
        </p:txBody>
      </p:sp>
      <p:sp>
        <p:nvSpPr>
          <p:cNvPr id="10" name="Rounded Rectangle 9"/>
          <p:cNvSpPr/>
          <p:nvPr/>
        </p:nvSpPr>
        <p:spPr>
          <a:xfrm>
            <a:off x="8961120" y="1645920"/>
            <a:ext cx="246888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89720" y="1828800"/>
            <a:ext cx="2011680" cy="4023360"/>
          </a:xfrm>
          <a:prstGeom prst="rect">
            <a:avLst/>
          </a:prstGeom>
          <a:noFill/>
        </p:spPr>
        <p:txBody>
          <a:bodyPr wrap="square" lIns="0" tIns="0" rIns="0" bIns="0">
            <a:spAutoFit/>
          </a:bodyPr>
          <a:lstStyle/>
          <a:p>
            <a:pPr>
              <a:spcAft>
                <a:spcPts val="800"/>
              </a:spcAft>
              <a:defRPr sz="1500" b="1">
                <a:solidFill>
                  <a:srgbClr val="16A34A"/>
                </a:solidFill>
                <a:latin typeface="Arial"/>
              </a:defRPr>
            </a:pPr>
            <a:r>
              <a:t>IDEAS (Opcodes)</a:t>
            </a:r>
          </a:p>
          <a:p>
            <a:pPr>
              <a:spcBef>
                <a:spcPts val="800"/>
              </a:spcBef>
              <a:defRPr sz="1200">
                <a:solidFill>
                  <a:srgbClr val="1E293B"/>
                </a:solidFill>
                <a:latin typeface="Arial"/>
              </a:defRPr>
            </a:pPr>
            <a:r>
              <a:t>• id (PK)</a:t>
            </a:r>
          </a:p>
          <a:p>
            <a:pPr>
              <a:spcBef>
                <a:spcPts val="800"/>
              </a:spcBef>
              <a:defRPr sz="1200">
                <a:solidFill>
                  <a:srgbClr val="1E293B"/>
                </a:solidFill>
                <a:latin typeface="Arial"/>
              </a:defRPr>
            </a:pPr>
            <a:r>
              <a:t>• opcode_mnemonic</a:t>
            </a:r>
          </a:p>
          <a:p>
            <a:pPr>
              <a:spcBef>
                <a:spcPts val="800"/>
              </a:spcBef>
              <a:defRPr sz="1200">
                <a:solidFill>
                  <a:srgbClr val="1E293B"/>
                </a:solidFill>
                <a:latin typeface="Arial"/>
              </a:defRPr>
            </a:pPr>
            <a:r>
              <a:t>• description</a:t>
            </a:r>
          </a:p>
          <a:p>
            <a:pPr>
              <a:spcBef>
                <a:spcPts val="800"/>
              </a:spcBef>
              <a:defRPr sz="1200">
                <a:solidFill>
                  <a:srgbClr val="1E293B"/>
                </a:solidFill>
                <a:latin typeface="Arial"/>
              </a:defRPr>
            </a:pPr>
            <a:r>
              <a:t>• SET_CARDINALITY</a:t>
            </a:r>
          </a:p>
          <a:p>
            <a:pPr>
              <a:spcBef>
                <a:spcPts val="800"/>
              </a:spcBef>
              <a:defRPr sz="1200">
                <a:solidFill>
                  <a:srgbClr val="1E293B"/>
                </a:solidFill>
                <a:latin typeface="Arial"/>
              </a:defRPr>
            </a:pPr>
            <a:r>
              <a:t>• INCREMENT_UNIT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13: The Finite Horizon — Quantized Semantic Bottleneck Architecture</a:t>
            </a:r>
          </a:p>
          <a:p>
            <a:pPr>
              <a:spcBef>
                <a:spcPts val="400"/>
              </a:spcBef>
              <a:defRPr sz="1300">
                <a:solidFill>
                  <a:srgbClr val="475569"/>
                </a:solidFill>
                <a:latin typeface="Arial"/>
              </a:defRPr>
            </a:pPr>
            <a:r>
              <a:t>Scaling across the entire textbook with an explicit hard boundary</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Exhaustive Compilation &amp; Hard Stop</a:t>
            </a:r>
          </a:p>
          <a:p>
            <a:pPr>
              <a:spcBef>
                <a:spcPts val="1000"/>
              </a:spcBef>
              <a:defRPr sz="1300">
                <a:solidFill>
                  <a:srgbClr val="1E293B"/>
                </a:solidFill>
                <a:latin typeface="Arial"/>
              </a:defRPr>
            </a:pPr>
            <a:r>
              <a:t>• Scaling Across Chapters: Repeat EKC for all Chapters, Units, and Exercises across the entire textbook.</a:t>
            </a:r>
          </a:p>
          <a:p>
            <a:pPr>
              <a:spcBef>
                <a:spcPts val="1000"/>
              </a:spcBef>
              <a:defRPr sz="1300">
                <a:solidFill>
                  <a:srgbClr val="1E293B"/>
                </a:solidFill>
                <a:latin typeface="Arial"/>
              </a:defRPr>
            </a:pPr>
            <a:r>
              <a:t>• The Explicit Hard Boundary: Compilation stops strictly at the final page of this textbook edition.</a:t>
            </a:r>
          </a:p>
          <a:p>
            <a:pPr>
              <a:spcBef>
                <a:spcPts val="1000"/>
              </a:spcBef>
              <a:defRPr sz="1300">
                <a:solidFill>
                  <a:srgbClr val="1E293B"/>
                </a:solidFill>
                <a:latin typeface="Arial"/>
              </a:defRPr>
            </a:pPr>
            <a:r>
              <a:t>• No Web Crawling: The system does not ingest outside math or internet noise. If it is not in the book, it does not exist in the database.</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0D9488"/>
                </a:solidFill>
                <a:latin typeface="Arial"/>
              </a:defRPr>
            </a:pPr>
            <a:r>
              <a:t>The Bottleneck Defines Scope</a:t>
            </a:r>
          </a:p>
          <a:p>
            <a:pPr>
              <a:spcBef>
                <a:spcPts val="1000"/>
              </a:spcBef>
              <a:defRPr sz="1300">
                <a:solidFill>
                  <a:srgbClr val="1E293B"/>
                </a:solidFill>
                <a:latin typeface="Arial"/>
              </a:defRPr>
            </a:pPr>
            <a:r>
              <a:t>• In-Scope vs. Out-of-Scope: The populated tables define 100% of the domain universe.</a:t>
            </a:r>
          </a:p>
          <a:p>
            <a:pPr>
              <a:spcBef>
                <a:spcPts val="1000"/>
              </a:spcBef>
              <a:defRPr sz="1300">
                <a:solidFill>
                  <a:srgbClr val="1E293B"/>
                </a:solidFill>
                <a:latin typeface="Arial"/>
              </a:defRPr>
            </a:pPr>
            <a:r>
              <a:t>• The Quantized Semantic Bottleneck: Natural language must pass through this discrete, audited relational gate.</a:t>
            </a:r>
          </a:p>
          <a:p>
            <a:pPr>
              <a:spcBef>
                <a:spcPts val="1000"/>
              </a:spcBef>
              <a:defRPr sz="1300">
                <a:solidFill>
                  <a:srgbClr val="1E293B"/>
                </a:solidFill>
                <a:latin typeface="Arial"/>
              </a:defRPr>
            </a:pPr>
            <a:r>
              <a:t>• Vocabulary Saturation: Across hundreds of problems, the discovery rate of new Ideas reaches zero. The instruction set closes.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14: Lowering to Bare Metal — The Domain Instruction Set (DIS)</a:t>
            </a:r>
          </a:p>
          <a:p>
            <a:pPr>
              <a:spcBef>
                <a:spcPts val="400"/>
              </a:spcBef>
              <a:defRPr sz="1300">
                <a:solidFill>
                  <a:srgbClr val="475569"/>
                </a:solidFill>
                <a:latin typeface="Arial"/>
              </a:defRPr>
            </a:pPr>
            <a:r>
              <a:t>Compiling Ideas into a sub-megabyte, CPU-executable binary</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Ideas Lowered to Machine Code</a:t>
            </a:r>
          </a:p>
          <a:p>
            <a:pPr>
              <a:spcBef>
                <a:spcPts val="1000"/>
              </a:spcBef>
              <a:defRPr sz="1300">
                <a:solidFill>
                  <a:srgbClr val="1E293B"/>
                </a:solidFill>
                <a:latin typeface="Arial"/>
              </a:defRPr>
            </a:pPr>
            <a:r>
              <a:t>• The Software Compilation Analogy: Just as C code compiles to x86 or ARM assembly, Ideas compile to a Domain Instruction Set (DIS).</a:t>
            </a:r>
          </a:p>
          <a:p>
            <a:pPr>
              <a:spcBef>
                <a:spcPts val="1000"/>
              </a:spcBef>
              <a:defRPr sz="1300">
                <a:solidFill>
                  <a:srgbClr val="1E293B"/>
                </a:solidFill>
                <a:latin typeface="Arial"/>
              </a:defRPr>
            </a:pPr>
            <a:r>
              <a:t>• Ideas Become Opcodes: SET_ORIGIN, OP_INC, OP_DEC, OP_ASSERT.</a:t>
            </a:r>
          </a:p>
          <a:p>
            <a:pPr>
              <a:spcBef>
                <a:spcPts val="1000"/>
              </a:spcBef>
              <a:defRPr sz="1300">
                <a:solidFill>
                  <a:srgbClr val="1E293B"/>
                </a:solidFill>
                <a:latin typeface="Arial"/>
              </a:defRPr>
            </a:pPr>
            <a:r>
              <a:t>• Zero English at Runtime: Natural language is stripped away. The binary contains only discrete integer opcodes and relational transition rules.</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16A34A"/>
                </a:solidFill>
                <a:latin typeface="Arial"/>
              </a:defRPr>
            </a:pPr>
            <a:r>
              <a:t>Bare-Metal Edge Performance</a:t>
            </a:r>
          </a:p>
          <a:p>
            <a:pPr>
              <a:spcBef>
                <a:spcPts val="1000"/>
              </a:spcBef>
              <a:defRPr sz="1300">
                <a:solidFill>
                  <a:srgbClr val="1E293B"/>
                </a:solidFill>
                <a:latin typeface="Arial"/>
              </a:defRPr>
            </a:pPr>
            <a:r>
              <a:t>• Sub-Megabyte Footprint: Total deployable binary target &lt; 1.0 MiB. Dynamic RAM &lt; 4.0 MiB.</a:t>
            </a:r>
          </a:p>
          <a:p>
            <a:pPr>
              <a:spcBef>
                <a:spcPts val="1000"/>
              </a:spcBef>
              <a:defRPr sz="1300">
                <a:solidFill>
                  <a:srgbClr val="1E293B"/>
                </a:solidFill>
                <a:latin typeface="Arial"/>
              </a:defRPr>
            </a:pPr>
            <a:r>
              <a:t>• Microsecond Execution: Evaluates queries in &lt; 50 microseconds on standard, inexpensive CPUs.</a:t>
            </a:r>
          </a:p>
          <a:p>
            <a:pPr>
              <a:spcBef>
                <a:spcPts val="1000"/>
              </a:spcBef>
              <a:defRPr sz="1300">
                <a:solidFill>
                  <a:srgbClr val="1E293B"/>
                </a:solidFill>
                <a:latin typeface="Arial"/>
              </a:defRPr>
            </a:pPr>
            <a:r>
              <a:t>• Zero Cloud Dependency: Runs locally on embedded chips or cheap student tablets without GPUs or internet connections.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15: The Interface — Putting the LLM Where It Shines</a:t>
            </a:r>
          </a:p>
          <a:p>
            <a:pPr>
              <a:spcBef>
                <a:spcPts val="400"/>
              </a:spcBef>
              <a:defRPr sz="1300">
                <a:solidFill>
                  <a:srgbClr val="475569"/>
                </a:solidFill>
                <a:latin typeface="Arial"/>
              </a:defRPr>
            </a:pPr>
            <a:r>
              <a:t>Language at the edges, logic at the core: Generative Upscaling</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The Division of Labor</a:t>
            </a:r>
          </a:p>
          <a:p>
            <a:pPr>
              <a:spcBef>
                <a:spcPts val="1000"/>
              </a:spcBef>
              <a:defRPr sz="1300">
                <a:solidFill>
                  <a:srgbClr val="1E293B"/>
                </a:solidFill>
                <a:latin typeface="Arial"/>
              </a:defRPr>
            </a:pPr>
            <a:r>
              <a:t>• Promoting the LLM to Interface: LLMs struggle as bare logic calculators, but excel as translation and rendering interfaces.</a:t>
            </a:r>
          </a:p>
          <a:p>
            <a:pPr>
              <a:spcBef>
                <a:spcPts val="1000"/>
              </a:spcBef>
              <a:defRPr sz="1300">
                <a:solidFill>
                  <a:srgbClr val="1E293B"/>
                </a:solidFill>
                <a:latin typeface="Arial"/>
              </a:defRPr>
            </a:pPr>
            <a:r>
              <a:t>• Top Bulb (Ingestion): Translates casual student questions ('I have a nickel and find two pennies...') into exact opcode queries.</a:t>
            </a:r>
          </a:p>
          <a:p>
            <a:pPr>
              <a:spcBef>
                <a:spcPts val="1000"/>
              </a:spcBef>
              <a:defRPr sz="1300">
                <a:solidFill>
                  <a:srgbClr val="1E293B"/>
                </a:solidFill>
                <a:latin typeface="Arial"/>
              </a:defRPr>
            </a:pPr>
            <a:r>
              <a:t>• Thin Waist (DIS): The deterministic binary verifies and executes the mathematical transition with 100% certainty.</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0D9488"/>
                </a:solidFill>
                <a:latin typeface="Arial"/>
              </a:defRPr>
            </a:pPr>
            <a:r>
              <a:t>Generative Upscaling (Bottom Bulb)</a:t>
            </a:r>
          </a:p>
          <a:p>
            <a:pPr>
              <a:spcBef>
                <a:spcPts val="1000"/>
              </a:spcBef>
              <a:defRPr sz="1300">
                <a:solidFill>
                  <a:srgbClr val="1E293B"/>
                </a:solidFill>
                <a:latin typeface="Arial"/>
              </a:defRPr>
            </a:pPr>
            <a:r>
              <a:t>• Upscaling Analog: Like upscaling low-res pixels to 4K, the LLM takes a sparse, proven opcode trace and re-hydrates it into rich natural language.</a:t>
            </a:r>
          </a:p>
          <a:p>
            <a:pPr>
              <a:spcBef>
                <a:spcPts val="1000"/>
              </a:spcBef>
              <a:defRPr sz="1300">
                <a:solidFill>
                  <a:srgbClr val="1E293B"/>
                </a:solidFill>
                <a:latin typeface="Arial"/>
              </a:defRPr>
            </a:pPr>
            <a:r>
              <a:t>• Beyond Lossy Compression: The structural invariant is preserved with 100% fidelity. The LLM can generate infinite creative variations:</a:t>
            </a:r>
          </a:p>
          <a:p>
            <a:pPr>
              <a:spcBef>
                <a:spcPts val="1000"/>
              </a:spcBef>
              <a:defRPr sz="1300">
                <a:solidFill>
                  <a:srgbClr val="1E293B"/>
                </a:solidFill>
                <a:latin typeface="Arial"/>
              </a:defRPr>
            </a:pPr>
            <a:r>
              <a:t>• • 'Add 2 apples and 1 apple...'</a:t>
            </a:r>
          </a:p>
          <a:p>
            <a:pPr>
              <a:spcBef>
                <a:spcPts val="1000"/>
              </a:spcBef>
              <a:defRPr sz="1300">
                <a:solidFill>
                  <a:srgbClr val="1E293B"/>
                </a:solidFill>
                <a:latin typeface="Arial"/>
              </a:defRPr>
            </a:pPr>
            <a:r>
              <a:t>• • 'Add 1 puppy and 1 kitten...'</a:t>
            </a:r>
          </a:p>
          <a:p>
            <a:pPr>
              <a:spcBef>
                <a:spcPts val="1000"/>
              </a:spcBef>
              <a:defRPr sz="1300">
                <a:solidFill>
                  <a:srgbClr val="1E293B"/>
                </a:solidFill>
                <a:latin typeface="Arial"/>
              </a:defRPr>
            </a:pPr>
            <a:r>
              <a:t>• • 'You + Me = How many people?'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16: The Reality Check — A 10-Year-Old Meets a Frontier LLM</a:t>
            </a:r>
          </a:p>
          <a:p>
            <a:pPr>
              <a:spcBef>
                <a:spcPts val="400"/>
              </a:spcBef>
              <a:defRPr sz="1300">
                <a:solidFill>
                  <a:srgbClr val="475569"/>
                </a:solidFill>
                <a:latin typeface="Arial"/>
              </a:defRPr>
            </a:pPr>
            <a:r>
              <a:t>'I need to study math. Can you help me?' — The Failure Modes</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E11D48"/>
                </a:solidFill>
                <a:latin typeface="Arial"/>
              </a:defRPr>
            </a:pPr>
            <a:r>
              <a:t>Infrastructure &amp; Safety Liabilities</a:t>
            </a:r>
          </a:p>
          <a:p>
            <a:pPr>
              <a:spcBef>
                <a:spcPts val="1000"/>
              </a:spcBef>
              <a:defRPr sz="1300">
                <a:solidFill>
                  <a:srgbClr val="1E293B"/>
                </a:solidFill>
                <a:latin typeface="Arial"/>
              </a:defRPr>
            </a:pPr>
            <a:r>
              <a:t>• Safety Exposure: Model has ingested the entire open internet; filtering guardrails are perpetually playing catch-up.</a:t>
            </a:r>
          </a:p>
          <a:p>
            <a:pPr>
              <a:spcBef>
                <a:spcPts val="1000"/>
              </a:spcBef>
              <a:defRPr sz="1300">
                <a:solidFill>
                  <a:srgbClr val="1E293B"/>
                </a:solidFill>
                <a:latin typeface="Arial"/>
              </a:defRPr>
            </a:pPr>
            <a:r>
              <a:t>• Privacy Leaks: Student chats, homework errors, and voice inputs are sent to costly cloud servers.</a:t>
            </a:r>
          </a:p>
          <a:p>
            <a:pPr>
              <a:spcBef>
                <a:spcPts val="1000"/>
              </a:spcBef>
              <a:defRPr sz="1300">
                <a:solidFill>
                  <a:srgbClr val="1E293B"/>
                </a:solidFill>
                <a:latin typeface="Arial"/>
              </a:defRPr>
            </a:pPr>
            <a:r>
              <a:t>• Always-Online Tether: Requires high-bandwidth internet, opening doors to digital distraction and online security risks.</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475569"/>
                </a:solidFill>
                <a:latin typeface="Arial"/>
              </a:defRPr>
            </a:pPr>
            <a:r>
              <a:t>Cognitive &amp; Curricular Pitfalls</a:t>
            </a:r>
          </a:p>
          <a:p>
            <a:pPr>
              <a:spcBef>
                <a:spcPts val="1000"/>
              </a:spcBef>
              <a:defRPr sz="1300">
                <a:solidFill>
                  <a:srgbClr val="1E293B"/>
                </a:solidFill>
                <a:latin typeface="Arial"/>
              </a:defRPr>
            </a:pPr>
            <a:r>
              <a:t>• Sycophancy Loop: The student asserts broken logic and the LLM politely 'yes-ands' the child to remain agreeable.</a:t>
            </a:r>
          </a:p>
          <a:p>
            <a:pPr>
              <a:spcBef>
                <a:spcPts val="1000"/>
              </a:spcBef>
              <a:defRPr sz="1300">
                <a:solidFill>
                  <a:srgbClr val="1E293B"/>
                </a:solidFill>
                <a:latin typeface="Arial"/>
              </a:defRPr>
            </a:pPr>
            <a:r>
              <a:t>• Context Vacuum: The LLM does not know Chapter 4; it approximates all math curricula it has ever seen.</a:t>
            </a:r>
          </a:p>
          <a:p>
            <a:pPr>
              <a:spcBef>
                <a:spcPts val="1000"/>
              </a:spcBef>
              <a:defRPr sz="1300">
                <a:solidFill>
                  <a:srgbClr val="1E293B"/>
                </a:solidFill>
                <a:latin typeface="Arial"/>
              </a:defRPr>
            </a:pPr>
            <a:r>
              <a:t>• Right Answer, Wrong Method: Uses advanced shortcuts or high school algebra, failing the student on tomorrow's test.</a:t>
            </a:r>
          </a:p>
          <a:p>
            <a:pPr>
              <a:spcBef>
                <a:spcPts val="1000"/>
              </a:spcBef>
              <a:defRPr sz="1300">
                <a:solidFill>
                  <a:srgbClr val="1E293B"/>
                </a:solidFill>
                <a:latin typeface="Arial"/>
              </a:defRPr>
            </a:pPr>
            <a:r>
              <a:t>• Mediocrity Collapse: Word problems collapse into generic, bland statistical averages.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17: The CDE Alternative — Deterministic Diagnostic Tutoring</a:t>
            </a:r>
          </a:p>
          <a:p>
            <a:pPr>
              <a:spcBef>
                <a:spcPts val="400"/>
              </a:spcBef>
              <a:defRPr sz="1300">
                <a:solidFill>
                  <a:srgbClr val="475569"/>
                </a:solidFill>
                <a:latin typeface="Arial"/>
              </a:defRPr>
            </a:pPr>
            <a:r>
              <a:t>Isolating root-cause misconceptions via Discriminate and Correlate</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100% Offline &amp; Grounded</a:t>
            </a:r>
          </a:p>
          <a:p>
            <a:pPr>
              <a:spcBef>
                <a:spcPts val="1000"/>
              </a:spcBef>
              <a:defRPr sz="1300">
                <a:solidFill>
                  <a:srgbClr val="1E293B"/>
                </a:solidFill>
                <a:latin typeface="Arial"/>
              </a:defRPr>
            </a:pPr>
            <a:r>
              <a:t>• Local Execution: Runs completely offline on a low-cost student laptop or tablet (&lt; 1 MiB binary).</a:t>
            </a:r>
          </a:p>
          <a:p>
            <a:pPr>
              <a:spcBef>
                <a:spcPts val="1000"/>
              </a:spcBef>
              <a:defRPr sz="1300">
                <a:solidFill>
                  <a:srgbClr val="1E293B"/>
                </a:solidFill>
                <a:latin typeface="Arial"/>
              </a:defRPr>
            </a:pPr>
            <a:r>
              <a:t>• Strict Chapter Boundary: Bound strictly to the Chapter 4 instruction set—it physically cannot drift or teach unlearned shortcuts.</a:t>
            </a:r>
          </a:p>
          <a:p>
            <a:pPr>
              <a:spcBef>
                <a:spcPts val="1000"/>
              </a:spcBef>
              <a:defRPr sz="1300">
                <a:solidFill>
                  <a:srgbClr val="1E293B"/>
                </a:solidFill>
                <a:latin typeface="Arial"/>
              </a:defRPr>
            </a:pPr>
            <a:r>
              <a:t>• Zero Privacy Risk: Student mistakes and session history never leave the device.</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16A34A"/>
                </a:solidFill>
                <a:latin typeface="Arial"/>
              </a:defRPr>
            </a:pPr>
            <a:r>
              <a:t>Exact Root-Cause Diagnosis</a:t>
            </a:r>
          </a:p>
          <a:p>
            <a:pPr>
              <a:spcBef>
                <a:spcPts val="1000"/>
              </a:spcBef>
              <a:defRPr sz="1300">
                <a:solidFill>
                  <a:srgbClr val="1E293B"/>
                </a:solidFill>
                <a:latin typeface="Arial"/>
              </a:defRPr>
            </a:pPr>
            <a:r>
              <a:t>• 1. Discriminate (Pinpoint Divergence): Compares the student's erroneous step against the correct path to isolate the discriminant opcode (C_delta).</a:t>
            </a:r>
          </a:p>
          <a:p>
            <a:pPr>
              <a:spcBef>
                <a:spcPts val="1000"/>
              </a:spcBef>
              <a:defRPr sz="1300">
                <a:solidFill>
                  <a:srgbClr val="1E293B"/>
                </a:solidFill>
                <a:latin typeface="Arial"/>
              </a:defRPr>
            </a:pPr>
            <a:r>
              <a:t>• 2. Correlate (Find Common Root): Joins errors across 3 missed problems to reveal a single upstream gap (e.g., ADDITIVE_STERIC_ANALYSIS in Chapter 3).</a:t>
            </a:r>
          </a:p>
          <a:p>
            <a:pPr>
              <a:spcBef>
                <a:spcPts val="1000"/>
              </a:spcBef>
              <a:defRPr sz="1300">
                <a:solidFill>
                  <a:srgbClr val="1E293B"/>
                </a:solidFill>
                <a:latin typeface="Arial"/>
              </a:defRPr>
            </a:pPr>
            <a:r>
              <a:t>• 3. Targeted Remediation: Queries the local instruction set to generate tailored practice questions that test true mastery.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18: The Bounded Interface — Clean-Room Local Models &amp; Gamification</a:t>
            </a:r>
          </a:p>
          <a:p>
            <a:pPr>
              <a:spcBef>
                <a:spcPts val="400"/>
              </a:spcBef>
              <a:defRPr sz="1300">
                <a:solidFill>
                  <a:srgbClr val="475569"/>
                </a:solidFill>
                <a:latin typeface="Arial"/>
              </a:defRPr>
            </a:pPr>
            <a:r>
              <a:t>Safety by construction and interactive learning loops</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The Clean-Room Local Model</a:t>
            </a:r>
          </a:p>
          <a:p>
            <a:pPr>
              <a:spcBef>
                <a:spcPts val="1000"/>
              </a:spcBef>
              <a:defRPr sz="1300">
                <a:solidFill>
                  <a:srgbClr val="1E293B"/>
                </a:solidFill>
                <a:latin typeface="Arial"/>
              </a:defRPr>
            </a:pPr>
            <a:r>
              <a:t>• Specialized Training Boundary: A small local LLM trained exclusively on a 'Helpful Teacher' corpus and the textbook vocabulary.</a:t>
            </a:r>
          </a:p>
          <a:p>
            <a:pPr>
              <a:spcBef>
                <a:spcPts val="1000"/>
              </a:spcBef>
              <a:defRPr sz="1300">
                <a:solidFill>
                  <a:srgbClr val="1E293B"/>
                </a:solidFill>
                <a:latin typeface="Arial"/>
              </a:defRPr>
            </a:pPr>
            <a:r>
              <a:t>• Safety by Construction: The model literally cannot hallucinate mature or toxic content because it has never ingested the open internet.</a:t>
            </a:r>
          </a:p>
          <a:p>
            <a:pPr>
              <a:spcBef>
                <a:spcPts val="1000"/>
              </a:spcBef>
              <a:defRPr sz="1300">
                <a:solidFill>
                  <a:srgbClr val="1E293B"/>
                </a:solidFill>
                <a:latin typeface="Arial"/>
              </a:defRPr>
            </a:pPr>
            <a:r>
              <a:t>• Low Compute Footprint: Optimized for on-device inference, eliminating cloud GPU subscriptions.</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0D9488"/>
                </a:solidFill>
                <a:latin typeface="Arial"/>
              </a:defRPr>
            </a:pPr>
            <a:r>
              <a:t>Interactive Gamification</a:t>
            </a:r>
          </a:p>
          <a:p>
            <a:pPr>
              <a:spcBef>
                <a:spcPts val="1000"/>
              </a:spcBef>
              <a:defRPr sz="1300">
                <a:solidFill>
                  <a:srgbClr val="1E293B"/>
                </a:solidFill>
                <a:latin typeface="Arial"/>
              </a:defRPr>
            </a:pPr>
            <a:r>
              <a:t>• Beyond the Boring Chatbox: Because logic is compiled into discrete opcodes, interfaces can render rich game mechanics:</a:t>
            </a:r>
          </a:p>
          <a:p>
            <a:pPr>
              <a:spcBef>
                <a:spcPts val="1000"/>
              </a:spcBef>
              <a:defRPr sz="1300">
                <a:solidFill>
                  <a:srgbClr val="1E293B"/>
                </a:solidFill>
                <a:latin typeface="Arial"/>
              </a:defRPr>
            </a:pPr>
            <a:r>
              <a:t>• • Opcode Quest: Solve dungeon puzzles by selecting valid mathematical operations.</a:t>
            </a:r>
          </a:p>
          <a:p>
            <a:pPr>
              <a:spcBef>
                <a:spcPts val="1000"/>
              </a:spcBef>
              <a:defRPr sz="1300">
                <a:solidFill>
                  <a:srgbClr val="1E293B"/>
                </a:solidFill>
                <a:latin typeface="Arial"/>
              </a:defRPr>
            </a:pPr>
            <a:r>
              <a:t>• • Bug Hunter: Find the broken step in an animated character's homework.</a:t>
            </a:r>
          </a:p>
          <a:p>
            <a:pPr>
              <a:spcBef>
                <a:spcPts val="1000"/>
              </a:spcBef>
              <a:defRPr sz="1300">
                <a:solidFill>
                  <a:srgbClr val="1E293B"/>
                </a:solidFill>
                <a:latin typeface="Arial"/>
              </a:defRPr>
            </a:pPr>
            <a:r>
              <a:t>• • Themed Upscaling: Math problems dynamically skinned in Minecraft, space exploration, or athletics themes.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19: The Local Memory Vault — Private, Deep Student Profiling</a:t>
            </a:r>
          </a:p>
          <a:p>
            <a:pPr>
              <a:spcBef>
                <a:spcPts val="400"/>
              </a:spcBef>
              <a:defRPr sz="1300">
                <a:solidFill>
                  <a:srgbClr val="475569"/>
                </a:solidFill>
                <a:latin typeface="Arial"/>
              </a:defRPr>
            </a:pPr>
            <a:r>
              <a:t>Redefining 'Deep Knowledge' from the student's individualized perspective</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Zero-Leakage Longitudinal Analytics</a:t>
            </a:r>
          </a:p>
          <a:p>
            <a:pPr>
              <a:spcBef>
                <a:spcPts val="1000"/>
              </a:spcBef>
              <a:defRPr sz="1300">
                <a:solidFill>
                  <a:srgbClr val="1E293B"/>
                </a:solidFill>
                <a:latin typeface="Arial"/>
              </a:defRPr>
            </a:pPr>
            <a:r>
              <a:t>• 100% Local Storage: Student history is stored in an encrypted on-device database—zero tracking, zero ad profiling.</a:t>
            </a:r>
          </a:p>
          <a:p>
            <a:pPr>
              <a:spcBef>
                <a:spcPts val="1000"/>
              </a:spcBef>
              <a:defRPr sz="1300">
                <a:solidFill>
                  <a:srgbClr val="1E293B"/>
                </a:solidFill>
                <a:latin typeface="Arial"/>
              </a:defRPr>
            </a:pPr>
            <a:r>
              <a:t>• Opcode Mastery Heatmap: Tracks exactly which concepts the child knows by heart vs. which trigger repeated reasoning faults.</a:t>
            </a:r>
          </a:p>
          <a:p>
            <a:pPr>
              <a:spcBef>
                <a:spcPts val="1000"/>
              </a:spcBef>
              <a:defRPr sz="1300">
                <a:solidFill>
                  <a:srgbClr val="1E293B"/>
                </a:solidFill>
                <a:latin typeface="Arial"/>
              </a:defRPr>
            </a:pPr>
            <a:r>
              <a:t>• Study Pace Correlation: Correlates daily study duration with test retention curves over days and weeks.</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16A34A"/>
                </a:solidFill>
                <a:latin typeface="Arial"/>
              </a:defRPr>
            </a:pPr>
            <a:r>
              <a:t>Redefining Deep Knowledge</a:t>
            </a:r>
          </a:p>
          <a:p>
            <a:pPr>
              <a:spcBef>
                <a:spcPts val="1000"/>
              </a:spcBef>
              <a:defRPr sz="1300">
                <a:solidFill>
                  <a:srgbClr val="1E293B"/>
                </a:solidFill>
                <a:latin typeface="Arial"/>
              </a:defRPr>
            </a:pPr>
            <a:r>
              <a:t>• Affective &amp; Fatigue Signals: Monitors erratic input speed or hesitation to detect when the child is fatigued or overwhelmed.</a:t>
            </a:r>
          </a:p>
          <a:p>
            <a:pPr>
              <a:spcBef>
                <a:spcPts val="1000"/>
              </a:spcBef>
              <a:defRPr sz="1300">
                <a:solidFill>
                  <a:srgbClr val="1E293B"/>
                </a:solidFill>
                <a:latin typeface="Arial"/>
              </a:defRPr>
            </a:pPr>
            <a:r>
              <a:t>• Open-World vs. True Depth: Open AI defines depth as encyclopedic trivia. CDE defines Deep Knowledge as:</a:t>
            </a:r>
          </a:p>
          <a:p>
            <a:pPr>
              <a:spcBef>
                <a:spcPts val="1000"/>
              </a:spcBef>
              <a:defRPr sz="1300">
                <a:solidFill>
                  <a:srgbClr val="1E293B"/>
                </a:solidFill>
                <a:latin typeface="Arial"/>
              </a:defRPr>
            </a:pPr>
            <a:r>
              <a:t>• • Exhaustive mastery over the bounded domain.</a:t>
            </a:r>
          </a:p>
          <a:p>
            <a:pPr>
              <a:spcBef>
                <a:spcPts val="1000"/>
              </a:spcBef>
              <a:defRPr sz="1300">
                <a:solidFill>
                  <a:srgbClr val="1E293B"/>
                </a:solidFill>
                <a:latin typeface="Arial"/>
              </a:defRPr>
            </a:pPr>
            <a:r>
              <a:t>• • Complete longitudinal understanding of the individual learner.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20: Personality as Interface &amp; Composable Domains</a:t>
            </a:r>
          </a:p>
          <a:p>
            <a:pPr>
              <a:spcBef>
                <a:spcPts val="400"/>
              </a:spcBef>
              <a:defRPr sz="1300">
                <a:solidFill>
                  <a:srgbClr val="475569"/>
                </a:solidFill>
                <a:latin typeface="Arial"/>
              </a:defRPr>
            </a:pPr>
            <a:r>
              <a:t>Adaptive delivery, stacking curricula, and the School Nurse module</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2563EB"/>
                </a:solidFill>
                <a:latin typeface="Arial"/>
              </a:defRPr>
            </a:pPr>
            <a:r>
              <a:t>Interchangeable Personas</a:t>
            </a:r>
          </a:p>
          <a:p>
            <a:pPr>
              <a:spcBef>
                <a:spcPts val="800"/>
              </a:spcBef>
              <a:defRPr sz="1200">
                <a:solidFill>
                  <a:srgbClr val="1E293B"/>
                </a:solidFill>
                <a:latin typeface="Arial"/>
              </a:defRPr>
            </a:pPr>
            <a:r>
              <a:t>• Decoupling Tone from Truth: In CDE, personality lives strictly in the interface. The math never bends.</a:t>
            </a:r>
          </a:p>
          <a:p>
            <a:pPr>
              <a:spcBef>
                <a:spcPts val="800"/>
              </a:spcBef>
              <a:defRPr sz="1200">
                <a:solidFill>
                  <a:srgbClr val="1E293B"/>
                </a:solidFill>
                <a:latin typeface="Arial"/>
              </a:defRPr>
            </a:pPr>
            <a:r>
              <a:t>• Adaptive Delivery Masks:</a:t>
            </a:r>
          </a:p>
          <a:p>
            <a:pPr>
              <a:spcBef>
                <a:spcPts val="800"/>
              </a:spcBef>
              <a:defRPr sz="1200">
                <a:solidFill>
                  <a:srgbClr val="1E293B"/>
                </a:solidFill>
                <a:latin typeface="Arial"/>
              </a:defRPr>
            </a:pPr>
            <a:r>
              <a:t>• • Bubbly &amp; Supportive: Encouragement for high-anxiety sessions.</a:t>
            </a:r>
          </a:p>
          <a:p>
            <a:pPr>
              <a:spcBef>
                <a:spcPts val="800"/>
              </a:spcBef>
              <a:defRPr sz="1200">
                <a:solidFill>
                  <a:srgbClr val="1E293B"/>
                </a:solidFill>
                <a:latin typeface="Arial"/>
              </a:defRPr>
            </a:pPr>
            <a:r>
              <a:t>• • Quirky &amp; Creative: Off-beat metaphors for creative thinkers.</a:t>
            </a:r>
          </a:p>
          <a:p>
            <a:pPr>
              <a:spcBef>
                <a:spcPts val="800"/>
              </a:spcBef>
              <a:defRPr sz="1200">
                <a:solidFill>
                  <a:srgbClr val="1E293B"/>
                </a:solidFill>
                <a:latin typeface="Arial"/>
              </a:defRPr>
            </a:pPr>
            <a:r>
              <a:t>• • Structured &amp; Disciplined: Step-by-step clarity for analytical minds.</a:t>
            </a:r>
          </a:p>
          <a:p>
            <a:pPr>
              <a:spcBef>
                <a:spcPts val="800"/>
              </a:spcBef>
              <a:defRPr sz="1200">
                <a:solidFill>
                  <a:srgbClr val="1E293B"/>
                </a:solidFill>
                <a:latin typeface="Arial"/>
              </a:defRPr>
            </a:pPr>
            <a:r>
              <a:t>• • Rigorous &amp; Demanding: Rapid-fire challenges for advanced students.</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0D9488"/>
                </a:solidFill>
                <a:latin typeface="Arial"/>
              </a:defRPr>
            </a:pPr>
            <a:r>
              <a:t>Domain Aggregation &amp; Wellness</a:t>
            </a:r>
          </a:p>
          <a:p>
            <a:pPr>
              <a:spcBef>
                <a:spcPts val="800"/>
              </a:spcBef>
              <a:defRPr sz="1200">
                <a:solidFill>
                  <a:srgbClr val="1E293B"/>
                </a:solidFill>
                <a:latin typeface="Arial"/>
              </a:defRPr>
            </a:pPr>
            <a:r>
              <a:t>• Stacking Domains: Grade 4 Math links to Grade 4 Science, sitting atop prior years as immutable prerequisites.</a:t>
            </a:r>
          </a:p>
          <a:p>
            <a:pPr>
              <a:spcBef>
                <a:spcPts val="800"/>
              </a:spcBef>
              <a:defRPr sz="1200">
                <a:solidFill>
                  <a:srgbClr val="1E293B"/>
                </a:solidFill>
                <a:latin typeface="Arial"/>
              </a:defRPr>
            </a:pPr>
            <a:r>
              <a:t>• The School Nurse &amp; Wellness Module:</a:t>
            </a:r>
          </a:p>
          <a:p>
            <a:pPr>
              <a:spcBef>
                <a:spcPts val="800"/>
              </a:spcBef>
              <a:defRPr sz="1200">
                <a:solidFill>
                  <a:srgbClr val="1E293B"/>
                </a:solidFill>
                <a:latin typeface="Arial"/>
              </a:defRPr>
            </a:pPr>
            <a:r>
              <a:t>• • Nutrition, diet, and healthy habit education.</a:t>
            </a:r>
          </a:p>
          <a:p>
            <a:pPr>
              <a:spcBef>
                <a:spcPts val="800"/>
              </a:spcBef>
              <a:defRPr sz="1200">
                <a:solidFill>
                  <a:srgbClr val="1E293B"/>
                </a:solidFill>
                <a:latin typeface="Arial"/>
              </a:defRPr>
            </a:pPr>
            <a:r>
              <a:t>• • Ergonomics, sleep hygiene, and outdoor activity balance.</a:t>
            </a:r>
          </a:p>
          <a:p>
            <a:pPr>
              <a:spcBef>
                <a:spcPts val="800"/>
              </a:spcBef>
              <a:defRPr sz="1200">
                <a:solidFill>
                  <a:srgbClr val="1E293B"/>
                </a:solidFill>
                <a:latin typeface="Arial"/>
              </a:defRPr>
            </a:pPr>
            <a:r>
              <a:t>• • Safe Escalation Boundary: Refuses medical diagnosis. Directs the child to an adult: 'Let's ask mom, dad, or your doctor.'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21: Breaking the Epistemic Circle — Regress Termination</a:t>
            </a:r>
          </a:p>
          <a:p>
            <a:pPr>
              <a:spcBef>
                <a:spcPts val="400"/>
              </a:spcBef>
              <a:defRPr sz="1300">
                <a:solidFill>
                  <a:srgbClr val="475569"/>
                </a:solidFill>
                <a:latin typeface="Arial"/>
              </a:defRPr>
            </a:pPr>
            <a:r>
              <a:t>How CDE structurally answers 'Who verifies the verifier?'</a:t>
            </a:r>
          </a:p>
        </p:txBody>
      </p:sp>
      <p:sp>
        <p:nvSpPr>
          <p:cNvPr id="4" name="Rounded Rectangle 3"/>
          <p:cNvSpPr/>
          <p:nvPr/>
        </p:nvSpPr>
        <p:spPr>
          <a:xfrm>
            <a:off x="7315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28800"/>
            <a:ext cx="4663440" cy="4023360"/>
          </a:xfrm>
          <a:prstGeom prst="rect">
            <a:avLst/>
          </a:prstGeom>
          <a:noFill/>
        </p:spPr>
        <p:txBody>
          <a:bodyPr wrap="square" lIns="0" tIns="0" rIns="0" bIns="0">
            <a:spAutoFit/>
          </a:bodyPr>
          <a:lstStyle/>
          <a:p>
            <a:pPr>
              <a:spcAft>
                <a:spcPts val="800"/>
              </a:spcAft>
              <a:defRPr sz="1500" b="1">
                <a:solidFill>
                  <a:srgbClr val="E11D48"/>
                </a:solidFill>
                <a:latin typeface="Arial"/>
              </a:defRPr>
            </a:pPr>
            <a:r>
              <a:t>The Dilemma Revisited</a:t>
            </a:r>
          </a:p>
          <a:p>
            <a:pPr>
              <a:spcBef>
                <a:spcPts val="1000"/>
              </a:spcBef>
              <a:defRPr sz="1300">
                <a:solidFill>
                  <a:srgbClr val="1E293B"/>
                </a:solidFill>
                <a:latin typeface="Arial"/>
              </a:defRPr>
            </a:pPr>
            <a:r>
              <a:t>• The Open Loop: If Model A audits Model B, and Model B is audited by Model C, uncertainty is never removed.</a:t>
            </a:r>
          </a:p>
          <a:p>
            <a:pPr>
              <a:spcBef>
                <a:spcPts val="1000"/>
              </a:spcBef>
              <a:defRPr sz="1300">
                <a:solidFill>
                  <a:srgbClr val="1E293B"/>
                </a:solidFill>
                <a:latin typeface="Arial"/>
              </a:defRPr>
            </a:pPr>
            <a:r>
              <a:t>• Continuous Uncertainty: Two neural models agreeing is merely shared probability, not verification.</a:t>
            </a:r>
          </a:p>
          <a:p>
            <a:pPr>
              <a:spcBef>
                <a:spcPts val="1000"/>
              </a:spcBef>
              <a:defRPr sz="1300">
                <a:solidFill>
                  <a:srgbClr val="1E293B"/>
                </a:solidFill>
                <a:latin typeface="Arial"/>
              </a:defRPr>
            </a:pPr>
            <a:r>
              <a:t>• The Runaway Cost: Chaining models multiplies latency and cost without solving the fundamental vulnerability.</a:t>
            </a:r>
          </a:p>
        </p:txBody>
      </p:sp>
      <p:sp>
        <p:nvSpPr>
          <p:cNvPr id="6" name="Rounded Rectangle 5"/>
          <p:cNvSpPr/>
          <p:nvPr/>
        </p:nvSpPr>
        <p:spPr>
          <a:xfrm>
            <a:off x="6217920" y="1645920"/>
            <a:ext cx="5120640" cy="4389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28800"/>
            <a:ext cx="4663440" cy="4023360"/>
          </a:xfrm>
          <a:prstGeom prst="rect">
            <a:avLst/>
          </a:prstGeom>
          <a:noFill/>
        </p:spPr>
        <p:txBody>
          <a:bodyPr wrap="square" lIns="0" tIns="0" rIns="0" bIns="0">
            <a:spAutoFit/>
          </a:bodyPr>
          <a:lstStyle/>
          <a:p>
            <a:pPr>
              <a:spcAft>
                <a:spcPts val="800"/>
              </a:spcAft>
              <a:defRPr sz="1500" b="1">
                <a:solidFill>
                  <a:srgbClr val="16A34A"/>
                </a:solidFill>
                <a:latin typeface="Arial"/>
              </a:defRPr>
            </a:pPr>
            <a:r>
              <a:t>The Structural Termination</a:t>
            </a:r>
          </a:p>
          <a:p>
            <a:pPr>
              <a:spcBef>
                <a:spcPts val="1000"/>
              </a:spcBef>
              <a:defRPr sz="1300">
                <a:solidFill>
                  <a:srgbClr val="1E293B"/>
                </a:solidFill>
                <a:latin typeface="Arial"/>
              </a:defRPr>
            </a:pPr>
            <a:r>
              <a:t>• 1. The Kernel Requires No Verification: It is a deterministic, inspectable finite-state machine. It adds zero uncertainty.</a:t>
            </a:r>
          </a:p>
          <a:p>
            <a:pPr>
              <a:spcBef>
                <a:spcPts val="1000"/>
              </a:spcBef>
              <a:defRPr sz="1300">
                <a:solidFill>
                  <a:srgbClr val="1E293B"/>
                </a:solidFill>
                <a:latin typeface="Arial"/>
              </a:defRPr>
            </a:pPr>
            <a:r>
              <a:t>• 2. Compilation Is Audited Offline: Validated by the domain authority against the stipulated answer key (X, Y).</a:t>
            </a:r>
          </a:p>
          <a:p>
            <a:pPr>
              <a:spcBef>
                <a:spcPts val="1000"/>
              </a:spcBef>
              <a:defRPr sz="1300">
                <a:solidFill>
                  <a:srgbClr val="1E293B"/>
                </a:solidFill>
                <a:latin typeface="Arial"/>
              </a:defRPr>
            </a:pPr>
            <a:r>
              <a:t>• 3. Ground Truth Is Stipulated: The regress terminates because ground truth is designated, bounded, and versioned.</a:t>
            </a:r>
          </a:p>
          <a:p>
            <a:pPr>
              <a:spcBef>
                <a:spcPts val="1000"/>
              </a:spcBef>
              <a:defRPr sz="1300">
                <a:solidFill>
                  <a:srgbClr val="1E293B"/>
                </a:solidFill>
                <a:latin typeface="Arial"/>
              </a:defRPr>
            </a:pPr>
            <a:r>
              <a:t>• Verification terminates at the boundary of the stipulated artifact.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defRPr sz="2400" b="1">
                <a:solidFill>
                  <a:srgbClr val="0F172A"/>
                </a:solidFill>
                <a:latin typeface="Arial"/>
              </a:defRPr>
            </a:pPr>
            <a:r>
              <a:t>Slide 22: The Executive Scorecard — Frontier LLMs vs. CDE</a:t>
            </a:r>
          </a:p>
          <a:p>
            <a:pPr>
              <a:spcBef>
                <a:spcPts val="400"/>
              </a:spcBef>
              <a:defRPr sz="1300">
                <a:solidFill>
                  <a:srgbClr val="475569"/>
                </a:solidFill>
                <a:latin typeface="Arial"/>
              </a:defRPr>
            </a:pPr>
            <a:r>
              <a:t>A high-impact architectural comparison across key operational dimensions</a:t>
            </a:r>
          </a:p>
        </p:txBody>
      </p:sp>
      <p:graphicFrame>
        <p:nvGraphicFramePr>
          <p:cNvPr id="4" name="Table 3"/>
          <p:cNvGraphicFramePr>
            <a:graphicFrameLocks noGrp="1"/>
          </p:cNvGraphicFramePr>
          <p:nvPr/>
        </p:nvGraphicFramePr>
        <p:xfrm>
          <a:off x="731520" y="1463040"/>
          <a:ext cx="10728655" cy="4754880"/>
        </p:xfrm>
        <a:graphic>
          <a:graphicData uri="http://schemas.openxmlformats.org/drawingml/2006/table">
            <a:tbl>
              <a:tblPr firstRow="1" bandRow="1">
                <a:tableStyleId>{5C22544A-7EE6-4342-B048-85BDC9FD1C3A}</a:tableStyleId>
              </a:tblPr>
              <a:tblGrid>
                <a:gridCol w="2499055"/>
                <a:gridCol w="4114800"/>
                <a:gridCol w="4114800"/>
              </a:tblGrid>
              <a:tr h="594360">
                <a:tc>
                  <a:txBody>
                    <a:bodyPr/>
                    <a:lstStyle/>
                    <a:p>
                      <a:pPr>
                        <a:defRPr sz="1200" b="1">
                          <a:solidFill>
                            <a:srgbClr val="FFFFFF"/>
                          </a:solidFill>
                          <a:latin typeface="Arial"/>
                        </a:defRPr>
                      </a:pPr>
                      <a:r>
                        <a:t>Dimension</a:t>
                      </a:r>
                    </a:p>
                  </a:txBody>
                  <a:tcPr>
                    <a:solidFill>
                      <a:srgbClr val="0F172A"/>
                    </a:solidFill>
                  </a:tcPr>
                </a:tc>
                <a:tc>
                  <a:txBody>
                    <a:bodyPr/>
                    <a:lstStyle/>
                    <a:p>
                      <a:pPr>
                        <a:defRPr sz="1200" b="1">
                          <a:solidFill>
                            <a:srgbClr val="FFFFFF"/>
                          </a:solidFill>
                          <a:latin typeface="Arial"/>
                        </a:defRPr>
                      </a:pPr>
                      <a:r>
                        <a:t>Frontier LLM Paradigm</a:t>
                      </a:r>
                    </a:p>
                  </a:txBody>
                  <a:tcPr>
                    <a:solidFill>
                      <a:srgbClr val="0F172A"/>
                    </a:solidFill>
                  </a:tcPr>
                </a:tc>
                <a:tc>
                  <a:txBody>
                    <a:bodyPr/>
                    <a:lstStyle/>
                    <a:p>
                      <a:pPr>
                        <a:defRPr sz="1200" b="1">
                          <a:solidFill>
                            <a:srgbClr val="FFFFFF"/>
                          </a:solidFill>
                          <a:latin typeface="Arial"/>
                        </a:defRPr>
                      </a:pPr>
                      <a:r>
                        <a:t>Compiled Domain Expertise (CDE)</a:t>
                      </a:r>
                    </a:p>
                  </a:txBody>
                  <a:tcPr>
                    <a:solidFill>
                      <a:srgbClr val="0F172A"/>
                    </a:solidFill>
                  </a:tcPr>
                </a:tc>
              </a:tr>
              <a:tr h="594360">
                <a:tc>
                  <a:txBody>
                    <a:bodyPr/>
                    <a:lstStyle/>
                    <a:p>
                      <a:pPr>
                        <a:defRPr sz="1100" b="1">
                          <a:solidFill>
                            <a:srgbClr val="1E293B"/>
                          </a:solidFill>
                          <a:latin typeface="Arial"/>
                        </a:defRPr>
                      </a:pPr>
                      <a:r>
                        <a:t>Substrate &amp; Hardware</a:t>
                      </a:r>
                    </a:p>
                  </a:txBody>
                  <a:tcPr>
                    <a:solidFill>
                      <a:srgbClr val="FFFFFF"/>
                    </a:solidFill>
                  </a:tcPr>
                </a:tc>
                <a:tc>
                  <a:txBody>
                    <a:bodyPr/>
                    <a:lstStyle/>
                    <a:p>
                      <a:pPr>
                        <a:defRPr sz="1100">
                          <a:solidFill>
                            <a:srgbClr val="1E293B"/>
                          </a:solidFill>
                          <a:latin typeface="Arial"/>
                        </a:defRPr>
                      </a:pPr>
                      <a:r>
                        <a:t>Cloud GPUs / Continuous FP16-FP32</a:t>
                      </a:r>
                    </a:p>
                  </a:txBody>
                  <a:tcPr>
                    <a:solidFill>
                      <a:srgbClr val="FFFFFF"/>
                    </a:solidFill>
                  </a:tcPr>
                </a:tc>
                <a:tc>
                  <a:txBody>
                    <a:bodyPr/>
                    <a:lstStyle/>
                    <a:p>
                      <a:pPr>
                        <a:defRPr sz="1100">
                          <a:solidFill>
                            <a:srgbClr val="1E293B"/>
                          </a:solidFill>
                          <a:latin typeface="Arial"/>
                        </a:defRPr>
                      </a:pPr>
                      <a:r>
                        <a:t>Local Standard CPU / Integer-Only Bare Metal</a:t>
                      </a:r>
                    </a:p>
                  </a:txBody>
                  <a:tcPr>
                    <a:solidFill>
                      <a:srgbClr val="FFFFFF"/>
                    </a:solidFill>
                  </a:tcPr>
                </a:tc>
              </a:tr>
              <a:tr h="594360">
                <a:tc>
                  <a:txBody>
                    <a:bodyPr/>
                    <a:lstStyle/>
                    <a:p>
                      <a:pPr>
                        <a:defRPr sz="1100" b="1">
                          <a:solidFill>
                            <a:srgbClr val="1E293B"/>
                          </a:solidFill>
                          <a:latin typeface="Arial"/>
                        </a:defRPr>
                      </a:pPr>
                      <a:r>
                        <a:t>Artifact Footprint</a:t>
                      </a:r>
                    </a:p>
                  </a:txBody>
                  <a:tcPr>
                    <a:solidFill>
                      <a:srgbClr val="F1F5F9"/>
                    </a:solidFill>
                  </a:tcPr>
                </a:tc>
                <a:tc>
                  <a:txBody>
                    <a:bodyPr/>
                    <a:lstStyle/>
                    <a:p>
                      <a:pPr>
                        <a:defRPr sz="1100">
                          <a:solidFill>
                            <a:srgbClr val="1E293B"/>
                          </a:solidFill>
                          <a:latin typeface="Arial"/>
                        </a:defRPr>
                      </a:pPr>
                      <a:r>
                        <a:t>Gigabytes to Terabytes (&gt;10^9 weights)</a:t>
                      </a:r>
                    </a:p>
                  </a:txBody>
                  <a:tcPr>
                    <a:solidFill>
                      <a:srgbClr val="F1F5F9"/>
                    </a:solidFill>
                  </a:tcPr>
                </a:tc>
                <a:tc>
                  <a:txBody>
                    <a:bodyPr/>
                    <a:lstStyle/>
                    <a:p>
                      <a:pPr>
                        <a:defRPr sz="1100">
                          <a:solidFill>
                            <a:srgbClr val="1E293B"/>
                          </a:solidFill>
                          <a:latin typeface="Arial"/>
                        </a:defRPr>
                      </a:pPr>
                      <a:r>
                        <a:t>Explicit Target: &lt; 1.0 MiB Binary</a:t>
                      </a:r>
                    </a:p>
                  </a:txBody>
                  <a:tcPr>
                    <a:solidFill>
                      <a:srgbClr val="F1F5F9"/>
                    </a:solidFill>
                  </a:tcPr>
                </a:tc>
              </a:tr>
              <a:tr h="594360">
                <a:tc>
                  <a:txBody>
                    <a:bodyPr/>
                    <a:lstStyle/>
                    <a:p>
                      <a:pPr>
                        <a:defRPr sz="1100" b="1">
                          <a:solidFill>
                            <a:srgbClr val="1E293B"/>
                          </a:solidFill>
                          <a:latin typeface="Arial"/>
                        </a:defRPr>
                      </a:pPr>
                      <a:r>
                        <a:t>Runtime Latency</a:t>
                      </a:r>
                    </a:p>
                  </a:txBody>
                  <a:tcPr>
                    <a:solidFill>
                      <a:srgbClr val="FFFFFF"/>
                    </a:solidFill>
                  </a:tcPr>
                </a:tc>
                <a:tc>
                  <a:txBody>
                    <a:bodyPr/>
                    <a:lstStyle/>
                    <a:p>
                      <a:pPr>
                        <a:defRPr sz="1100">
                          <a:solidFill>
                            <a:srgbClr val="1E293B"/>
                          </a:solidFill>
                          <a:latin typeface="Arial"/>
                        </a:defRPr>
                      </a:pPr>
                      <a:r>
                        <a:t>Hundreds of milliseconds to seconds</a:t>
                      </a:r>
                    </a:p>
                  </a:txBody>
                  <a:tcPr>
                    <a:solidFill>
                      <a:srgbClr val="FFFFFF"/>
                    </a:solidFill>
                  </a:tcPr>
                </a:tc>
                <a:tc>
                  <a:txBody>
                    <a:bodyPr/>
                    <a:lstStyle/>
                    <a:p>
                      <a:pPr>
                        <a:defRPr sz="1100">
                          <a:solidFill>
                            <a:srgbClr val="1E293B"/>
                          </a:solidFill>
                          <a:latin typeface="Arial"/>
                        </a:defRPr>
                      </a:pPr>
                      <a:r>
                        <a:t>&lt; 50 Microseconds per query</a:t>
                      </a:r>
                    </a:p>
                  </a:txBody>
                  <a:tcPr>
                    <a:solidFill>
                      <a:srgbClr val="FFFFFF"/>
                    </a:solidFill>
                  </a:tcPr>
                </a:tc>
              </a:tr>
              <a:tr h="594360">
                <a:tc>
                  <a:txBody>
                    <a:bodyPr/>
                    <a:lstStyle/>
                    <a:p>
                      <a:pPr>
                        <a:defRPr sz="1100" b="1">
                          <a:solidFill>
                            <a:srgbClr val="1E293B"/>
                          </a:solidFill>
                          <a:latin typeface="Arial"/>
                        </a:defRPr>
                      </a:pPr>
                      <a:r>
                        <a:t>Ground Truth &amp; Logic</a:t>
                      </a:r>
                    </a:p>
                  </a:txBody>
                  <a:tcPr>
                    <a:solidFill>
                      <a:srgbClr val="F1F5F9"/>
                    </a:solidFill>
                  </a:tcPr>
                </a:tc>
                <a:tc>
                  <a:txBody>
                    <a:bodyPr/>
                    <a:lstStyle/>
                    <a:p>
                      <a:pPr>
                        <a:defRPr sz="1100">
                          <a:solidFill>
                            <a:srgbClr val="1E293B"/>
                          </a:solidFill>
                          <a:latin typeface="Arial"/>
                        </a:defRPr>
                      </a:pPr>
                      <a:r>
                        <a:t>Probabilistic token likelihood P(Y|X)</a:t>
                      </a:r>
                    </a:p>
                  </a:txBody>
                  <a:tcPr>
                    <a:solidFill>
                      <a:srgbClr val="F1F5F9"/>
                    </a:solidFill>
                  </a:tcPr>
                </a:tc>
                <a:tc>
                  <a:txBody>
                    <a:bodyPr/>
                    <a:lstStyle/>
                    <a:p>
                      <a:pPr>
                        <a:defRPr sz="1100">
                          <a:solidFill>
                            <a:srgbClr val="1E293B"/>
                          </a:solidFill>
                          <a:latin typeface="Arial"/>
                        </a:defRPr>
                      </a:pPr>
                      <a:r>
                        <a:t>Relational Proof Graph &amp; Discrete Opcodes</a:t>
                      </a:r>
                    </a:p>
                  </a:txBody>
                  <a:tcPr>
                    <a:solidFill>
                      <a:srgbClr val="F1F5F9"/>
                    </a:solidFill>
                  </a:tcPr>
                </a:tc>
              </a:tr>
              <a:tr h="594360">
                <a:tc>
                  <a:txBody>
                    <a:bodyPr/>
                    <a:lstStyle/>
                    <a:p>
                      <a:pPr>
                        <a:defRPr sz="1100" b="1">
                          <a:solidFill>
                            <a:srgbClr val="1E293B"/>
                          </a:solidFill>
                          <a:latin typeface="Arial"/>
                        </a:defRPr>
                      </a:pPr>
                      <a:r>
                        <a:t>Failure Behavior</a:t>
                      </a:r>
                    </a:p>
                  </a:txBody>
                  <a:tcPr>
                    <a:solidFill>
                      <a:srgbClr val="FFFFFF"/>
                    </a:solidFill>
                  </a:tcPr>
                </a:tc>
                <a:tc>
                  <a:txBody>
                    <a:bodyPr/>
                    <a:lstStyle/>
                    <a:p>
                      <a:pPr>
                        <a:defRPr sz="1100">
                          <a:solidFill>
                            <a:srgbClr val="1E293B"/>
                          </a:solidFill>
                          <a:latin typeface="Arial"/>
                        </a:defRPr>
                      </a:pPr>
                      <a:r>
                        <a:t>Silent hallucinations &amp; 'yes-anding'</a:t>
                      </a:r>
                    </a:p>
                  </a:txBody>
                  <a:tcPr>
                    <a:solidFill>
                      <a:srgbClr val="FFFFFF"/>
                    </a:solidFill>
                  </a:tcPr>
                </a:tc>
                <a:tc>
                  <a:txBody>
                    <a:bodyPr/>
                    <a:lstStyle/>
                    <a:p>
                      <a:pPr>
                        <a:defRPr sz="1100">
                          <a:solidFill>
                            <a:srgbClr val="1E293B"/>
                          </a:solidFill>
                          <a:latin typeface="Arial"/>
                        </a:defRPr>
                      </a:pPr>
                      <a:r>
                        <a:t>Loud syntax halt / Out-of-domain rejection</a:t>
                      </a:r>
                    </a:p>
                  </a:txBody>
                  <a:tcPr>
                    <a:solidFill>
                      <a:srgbClr val="FFFFFF"/>
                    </a:solidFill>
                  </a:tcPr>
                </a:tc>
              </a:tr>
              <a:tr h="594360">
                <a:tc>
                  <a:txBody>
                    <a:bodyPr/>
                    <a:lstStyle/>
                    <a:p>
                      <a:pPr>
                        <a:defRPr sz="1100" b="1">
                          <a:solidFill>
                            <a:srgbClr val="1E293B"/>
                          </a:solidFill>
                          <a:latin typeface="Arial"/>
                        </a:defRPr>
                      </a:pPr>
                      <a:r>
                        <a:t>Student Privacy</a:t>
                      </a:r>
                    </a:p>
                  </a:txBody>
                  <a:tcPr>
                    <a:solidFill>
                      <a:srgbClr val="F1F5F9"/>
                    </a:solidFill>
                  </a:tcPr>
                </a:tc>
                <a:tc>
                  <a:txBody>
                    <a:bodyPr/>
                    <a:lstStyle/>
                    <a:p>
                      <a:pPr>
                        <a:defRPr sz="1100">
                          <a:solidFill>
                            <a:srgbClr val="1E293B"/>
                          </a:solidFill>
                          <a:latin typeface="Arial"/>
                        </a:defRPr>
                      </a:pPr>
                      <a:r>
                        <a:t>Queries logged to cloud servers</a:t>
                      </a:r>
                    </a:p>
                  </a:txBody>
                  <a:tcPr>
                    <a:solidFill>
                      <a:srgbClr val="F1F5F9"/>
                    </a:solidFill>
                  </a:tcPr>
                </a:tc>
                <a:tc>
                  <a:txBody>
                    <a:bodyPr/>
                    <a:lstStyle/>
                    <a:p>
                      <a:pPr>
                        <a:defRPr sz="1100">
                          <a:solidFill>
                            <a:srgbClr val="1E293B"/>
                          </a:solidFill>
                          <a:latin typeface="Arial"/>
                        </a:defRPr>
                      </a:pPr>
                      <a:r>
                        <a:t>100% On-Device, Zero-leakage memory vault</a:t>
                      </a:r>
                    </a:p>
                  </a:txBody>
                  <a:tcPr>
                    <a:solidFill>
                      <a:srgbClr val="F1F5F9"/>
                    </a:solidFill>
                  </a:tcPr>
                </a:tc>
              </a:tr>
              <a:tr h="594360">
                <a:tc>
                  <a:txBody>
                    <a:bodyPr/>
                    <a:lstStyle/>
                    <a:p>
                      <a:pPr>
                        <a:defRPr sz="1100" b="1">
                          <a:solidFill>
                            <a:srgbClr val="1E293B"/>
                          </a:solidFill>
                          <a:latin typeface="Arial"/>
                        </a:defRPr>
                      </a:pPr>
                      <a:r>
                        <a:t>Curricular Scope</a:t>
                      </a:r>
                    </a:p>
                  </a:txBody>
                  <a:tcPr>
                    <a:solidFill>
                      <a:srgbClr val="FFFFFF"/>
                    </a:solidFill>
                  </a:tcPr>
                </a:tc>
                <a:tc>
                  <a:txBody>
                    <a:bodyPr/>
                    <a:lstStyle/>
                    <a:p>
                      <a:pPr>
                        <a:defRPr sz="1100">
                          <a:solidFill>
                            <a:srgbClr val="1E293B"/>
                          </a:solidFill>
                          <a:latin typeface="Arial"/>
                        </a:defRPr>
                      </a:pPr>
                      <a:r>
                        <a:t>Unversioned blend of open internet</a:t>
                      </a:r>
                    </a:p>
                  </a:txBody>
                  <a:tcPr>
                    <a:solidFill>
                      <a:srgbClr val="FFFFFF"/>
                    </a:solidFill>
                  </a:tcPr>
                </a:tc>
                <a:tc>
                  <a:txBody>
                    <a:bodyPr/>
                    <a:lstStyle/>
                    <a:p>
                      <a:pPr>
                        <a:defRPr sz="1100">
                          <a:solidFill>
                            <a:srgbClr val="1E293B"/>
                          </a:solidFill>
                          <a:latin typeface="Arial"/>
                        </a:defRPr>
                      </a:pPr>
                      <a:r>
                        <a:t>Strictly versioned, closed textbook snapshot</a:t>
                      </a:r>
                    </a:p>
                  </a:txBody>
                  <a:tcP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3657600"/>
          </a:xfrm>
          <a:prstGeom prst="rect">
            <a:avLst/>
          </a:prstGeom>
          <a:noFill/>
        </p:spPr>
        <p:txBody>
          <a:bodyPr wrap="square">
            <a:spAutoFit/>
          </a:bodyPr>
          <a:lstStyle/>
          <a:p>
            <a:pPr>
              <a:defRPr sz="3600" b="1">
                <a:solidFill>
                  <a:srgbClr val="FFFFFF"/>
                </a:solidFill>
                <a:latin typeface="Arial"/>
              </a:defRPr>
            </a:pPr>
            <a:r>
              <a:t>THE ERA OF COMPILED INTELLIGENCE</a:t>
            </a:r>
          </a:p>
          <a:p>
            <a:pPr>
              <a:spcBef>
                <a:spcPts val="1600"/>
              </a:spcBef>
              <a:defRPr sz="1600">
                <a:solidFill>
                  <a:srgbClr val="CBD5E1"/>
                </a:solidFill>
                <a:latin typeface="Arial"/>
              </a:defRPr>
            </a:pPr>
            <a:r>
              <a:t>• Severing Acquisition from Execution: Use high-capacity neural models in the factory to compile; execute on deterministic bare metal at runtime.</a:t>
            </a:r>
          </a:p>
          <a:p>
            <a:pPr>
              <a:spcBef>
                <a:spcPts val="1600"/>
              </a:spcBef>
              <a:defRPr sz="1600">
                <a:solidFill>
                  <a:srgbClr val="CBD5E1"/>
                </a:solidFill>
                <a:latin typeface="Arial"/>
              </a:defRPr>
            </a:pPr>
            <a:r>
              <a:t>• Bounded, Durable Competence: Moving away from ungrounded open-world extrapolation toward certifiable, auditable domain mastery.</a:t>
            </a:r>
          </a:p>
          <a:p>
            <a:pPr>
              <a:spcBef>
                <a:spcPts val="1600"/>
              </a:spcBef>
              <a:defRPr sz="1600">
                <a:solidFill>
                  <a:srgbClr val="CBD5E1"/>
                </a:solidFill>
                <a:latin typeface="Arial"/>
              </a:defRPr>
            </a:pPr>
            <a:r>
              <a:t>• AI Does Not Replace Compilers: AI IS THE COMPILER.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