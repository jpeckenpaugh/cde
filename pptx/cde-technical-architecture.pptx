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b9ef3bf5d445e" /><Relationship Type="http://schemas.openxmlformats.org/officeDocument/2006/relationships/extended-properties" Target="/docProps/app.xml" Id="Redb21c384ba04261" /><Relationship Type="http://schemas.openxmlformats.org/officeDocument/2006/relationships/officeDocument" Target="/ppt/presentation.xml" Id="R94cdfa59b90f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72d4dfe7234998"/>
  </p:sldMasterIdLst>
  <p:notesMasterIdLst>
    <p:notesMasterId xmlns:r="http://schemas.openxmlformats.org/officeDocument/2006/relationships" r:id="R7464c630e9d84b62"/>
  </p:notesMasterIdLst>
  <p:sldIdLst>
    <p:sldId xmlns:r="http://schemas.openxmlformats.org/officeDocument/2006/relationships" id="256" r:id="Rd459a004618a4667"/>
    <p:sldId xmlns:r="http://schemas.openxmlformats.org/officeDocument/2006/relationships" id="257" r:id="R4d004f9843724966"/>
    <p:sldId xmlns:r="http://schemas.openxmlformats.org/officeDocument/2006/relationships" id="258" r:id="R2ebf020c01d04582"/>
    <p:sldId xmlns:r="http://schemas.openxmlformats.org/officeDocument/2006/relationships" id="259" r:id="Ra2d7972e6cf1465c"/>
    <p:sldId xmlns:r="http://schemas.openxmlformats.org/officeDocument/2006/relationships" id="260" r:id="Rea4524f139264688"/>
    <p:sldId xmlns:r="http://schemas.openxmlformats.org/officeDocument/2006/relationships" id="261" r:id="R111139bed3fd404f"/>
    <p:sldId xmlns:r="http://schemas.openxmlformats.org/officeDocument/2006/relationships" id="262" r:id="R28a7a9e0f4df4771"/>
    <p:sldId xmlns:r="http://schemas.openxmlformats.org/officeDocument/2006/relationships" id="263" r:id="R044f702ac2bf4160"/>
    <p:sldId xmlns:r="http://schemas.openxmlformats.org/officeDocument/2006/relationships" id="264" r:id="Rf55eda19b6e74c15"/>
    <p:sldId xmlns:r="http://schemas.openxmlformats.org/officeDocument/2006/relationships" id="265" r:id="R5b32c1670f78411f"/>
    <p:sldId xmlns:r="http://schemas.openxmlformats.org/officeDocument/2006/relationships" id="266" r:id="R227c3b44fa674a8e"/>
    <p:sldId xmlns:r="http://schemas.openxmlformats.org/officeDocument/2006/relationships" id="267" r:id="Rd94238f650f649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09091d4be4565" /><Relationship Type="http://schemas.openxmlformats.org/officeDocument/2006/relationships/slideMaster" Target="/ppt/slideMasters/slideMaster1.xml" Id="R6b72d4dfe7234998" /><Relationship Type="http://schemas.openxmlformats.org/officeDocument/2006/relationships/notesMaster" Target="/ppt/notesMasters/notesMaster1.xml" Id="R7464c630e9d84b62" /><Relationship Type="http://schemas.openxmlformats.org/officeDocument/2006/relationships/presProps" Target="/ppt/presProps.xml" Id="Rf049a144af684380" /><Relationship Type="http://schemas.openxmlformats.org/officeDocument/2006/relationships/tableStyles" Target="/ppt/tableStyles.xml" Id="R8b831585e2bb4d2c" /><Relationship Type="http://schemas.openxmlformats.org/officeDocument/2006/relationships/slide" Target="/ppt/slides/slide1.xml" Id="Rd459a004618a4667" /><Relationship Type="http://schemas.openxmlformats.org/officeDocument/2006/relationships/slide" Target="/ppt/slides/slide2.xml" Id="R4d004f9843724966" /><Relationship Type="http://schemas.openxmlformats.org/officeDocument/2006/relationships/slide" Target="/ppt/slides/slide3.xml" Id="R2ebf020c01d04582" /><Relationship Type="http://schemas.openxmlformats.org/officeDocument/2006/relationships/slide" Target="/ppt/slides/slide4.xml" Id="Ra2d7972e6cf1465c" /><Relationship Type="http://schemas.openxmlformats.org/officeDocument/2006/relationships/slide" Target="/ppt/slides/slide5.xml" Id="Rea4524f139264688" /><Relationship Type="http://schemas.openxmlformats.org/officeDocument/2006/relationships/slide" Target="/ppt/slides/slide6.xml" Id="R111139bed3fd404f" /><Relationship Type="http://schemas.openxmlformats.org/officeDocument/2006/relationships/slide" Target="/ppt/slides/slide7.xml" Id="R28a7a9e0f4df4771" /><Relationship Type="http://schemas.openxmlformats.org/officeDocument/2006/relationships/slide" Target="/ppt/slides/slide8.xml" Id="R044f702ac2bf4160" /><Relationship Type="http://schemas.openxmlformats.org/officeDocument/2006/relationships/slide" Target="/ppt/slides/slide9.xml" Id="Rf55eda19b6e74c15" /><Relationship Type="http://schemas.openxmlformats.org/officeDocument/2006/relationships/slide" Target="/ppt/slides/slide10.xml" Id="R5b32c1670f78411f" /><Relationship Type="http://schemas.openxmlformats.org/officeDocument/2006/relationships/slide" Target="/ppt/slides/slide11.xml" Id="R227c3b44fa674a8e" /><Relationship Type="http://schemas.openxmlformats.org/officeDocument/2006/relationships/slide" Target="/ppt/slides/slide12.xml" Id="Rd94238f650f6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df6f2c486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0c9f1a6ca4c8f" /><Relationship Type="http://schemas.openxmlformats.org/officeDocument/2006/relationships/notesMaster" Target="/ppt/notesMasters/notesMaster1.xml" Id="R7fb38eaae82f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f8270b03e4678" /><Relationship Type="http://schemas.openxmlformats.org/officeDocument/2006/relationships/notesMaster" Target="/ppt/notesMasters/notesMaster1.xml" Id="Rfcec09b72138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48eb8381e6430d" /><Relationship Type="http://schemas.openxmlformats.org/officeDocument/2006/relationships/notesMaster" Target="/ppt/notesMasters/notesMaster1.xml" Id="Re72d21256fc84b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56e43dd2c47c7" /><Relationship Type="http://schemas.openxmlformats.org/officeDocument/2006/relationships/notesMaster" Target="/ppt/notesMasters/notesMaster1.xml" Id="R6560d7152d5246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2396e51a54ebb" /><Relationship Type="http://schemas.openxmlformats.org/officeDocument/2006/relationships/notesMaster" Target="/ppt/notesMasters/notesMaster1.xml" Id="R1545c4486a1a46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5ec991c65b4677" /><Relationship Type="http://schemas.openxmlformats.org/officeDocument/2006/relationships/notesMaster" Target="/ppt/notesMasters/notesMaster1.xml" Id="Rbb42304afdf0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6216d90bc14a47" /><Relationship Type="http://schemas.openxmlformats.org/officeDocument/2006/relationships/notesMaster" Target="/ppt/notesMasters/notesMaster1.xml" Id="R2e3eefb19ded47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f161876194956" /><Relationship Type="http://schemas.openxmlformats.org/officeDocument/2006/relationships/notesMaster" Target="/ppt/notesMasters/notesMaster1.xml" Id="R294e7e00f4804b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8bfb3d21c45fc" /><Relationship Type="http://schemas.openxmlformats.org/officeDocument/2006/relationships/notesMaster" Target="/ppt/notesMasters/notesMaster1.xml" Id="R49fec497b4b044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30cbb46bce4df0" /><Relationship Type="http://schemas.openxmlformats.org/officeDocument/2006/relationships/notesMaster" Target="/ppt/notesMasters/notesMaster1.xml" Id="R3bd3f66755384b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449de4ba314f9a" /><Relationship Type="http://schemas.openxmlformats.org/officeDocument/2006/relationships/notesMaster" Target="/ppt/notesMasters/notesMaster1.xml" Id="R0510df38a1554c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8fd11309eb4d72" /><Relationship Type="http://schemas.openxmlformats.org/officeDocument/2006/relationships/notesMaster" Target="/ppt/notesMasters/notesMaster1.xml" Id="R24706c6d283b4a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33061b32a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e153d9dcc43a9" /><Relationship Type="http://schemas.openxmlformats.org/officeDocument/2006/relationships/slideLayout" Target="/ppt/slideLayouts/slideLayout1.xml" Id="R99af9649595245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f9649595245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779fb5224c91" /><Relationship Type="http://schemas.openxmlformats.org/officeDocument/2006/relationships/notesSlide" Target="/ppt/notesSlides/notesSlide1.xml" Id="Rcc303a65a22244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483a857964ca0" /><Relationship Type="http://schemas.openxmlformats.org/officeDocument/2006/relationships/notesSlide" Target="/ppt/notesSlides/notesSlide2.xml" Id="Re99c144db19f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9b798700049cf" /><Relationship Type="http://schemas.openxmlformats.org/officeDocument/2006/relationships/notesSlide" Target="/ppt/notesSlides/notesSlide3.xml" Id="R83c029440e0a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8d1a077ba4b6a" /><Relationship Type="http://schemas.openxmlformats.org/officeDocument/2006/relationships/notesSlide" Target="/ppt/notesSlides/notesSlide4.xml" Id="R4980d73e742449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f1fc16e34225" /><Relationship Type="http://schemas.openxmlformats.org/officeDocument/2006/relationships/notesSlide" Target="/ppt/notesSlides/notesSlide5.xml" Id="Rbbb0547b0bd64a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be6e8f3bb410c" /><Relationship Type="http://schemas.openxmlformats.org/officeDocument/2006/relationships/notesSlide" Target="/ppt/notesSlides/notesSlide6.xml" Id="R04658fa8af224d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a6a709a984236" /><Relationship Type="http://schemas.openxmlformats.org/officeDocument/2006/relationships/notesSlide" Target="/ppt/notesSlides/notesSlide7.xml" Id="R77365f0b2753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f2d02bbbd4bc7" /><Relationship Type="http://schemas.openxmlformats.org/officeDocument/2006/relationships/notesSlide" Target="/ppt/notesSlides/notesSlide8.xml" Id="R80459cf2ae0b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db8bbc3834d29" /><Relationship Type="http://schemas.openxmlformats.org/officeDocument/2006/relationships/notesSlide" Target="/ppt/notesSlides/notesSlide9.xml" Id="R4b951530c3e2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2e96858494a09" /><Relationship Type="http://schemas.openxmlformats.org/officeDocument/2006/relationships/notesSlide" Target="/ppt/notesSlides/notesSlide10.xml" Id="R757cf0d7b1eb45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57c2521d4804" /><Relationship Type="http://schemas.openxmlformats.org/officeDocument/2006/relationships/notesSlide" Target="/ppt/notesSlides/notesSlide11.xml" Id="Rfa877e8c654a4f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64eb9bc17408a" /><Relationship Type="http://schemas.openxmlformats.org/officeDocument/2006/relationships/notesSlide" Target="/ppt/notesSlides/notesSlide12.xml" Id="R33fc4f548968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80E8B-C12B-4DC9-96DC-E8430FD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Compiled Domain Expertise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5EFDB-F736-4722-8545-1846ADDB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FDBFE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BFDBFE"/>
                </a:solidFill>
                <a:latin typeface="Arial"/>
                <a:ea typeface="Arial"/>
                <a:cs typeface="Arial"/>
              </a:rPr>
              <a:t>Technical architecture, empirical status, and open engineering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F51B3-AFAE-4432-A5B9-E6EB2FD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Technical architecture deck</a:t>
            </a:r>
          </a:p>
        </p:txBody>
      </p:sp>
    </p:spTree>
    <p:extLst>
      <p:ext uri="{BB962C8B-B14F-4D97-AF65-F5344CB8AC3E}">
        <p14:creationId xmlns:p14="http://schemas.microsoft.com/office/powerpoint/2010/main" val="164563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8E1C0-E2A7-440D-9B32-AFBF50D1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Scope and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019A2-83F3-4CBA-BCC6-86406BC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targets bounded, versioned domains rather than open-world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7909-B35A-4F9C-953C-8717EDA5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Build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891AA-0AFB-45DB-B040-23A152F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Use a high-capacity teacher model and a ground-truth corpus to surface candidate reasoning structures, then audit and lower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7DFD1-6565-41ED-A3C4-59F9E25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D8176-8693-4E7C-9FA4-41B1BB3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Execute the surviving structure as a compact, deterministic artifact. The design target is an integer-only CPU runtime with explicit out-of-domain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7757-A4C4-408F-87EB-478C385D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C9D9E-1B94-48A0-80BB-80213B8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3254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A3D04-706A-4DAF-ADF5-0C1A46B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Five levels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9F008-BE0E-4C09-A902-B301638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Keep the theory separate from its first reference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1F92D-4728-4781-8782-431AD5E4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8572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1. CDE: the theory of compiling bounded expertise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2. EKC: the build-time knowledge-compilation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3. QSBA: the hourglass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4. DIS: the runtime instruction-set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5. QSBC: a C3PA reference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7A8BA-D309-44B2-B34D-CD0D1FEA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23E10-022B-458D-A008-D9A6A768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520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96CFE-B4BE-430D-A12B-89AF7DE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QSBA hourglass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54FFD-D96C-4EA4-9EF8-90BA819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Language sits at the edges; the domain kernel sits at the waist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37504-BEB3-4A28-B7F0-0D6F27F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33"/>
                </a:solidFill>
                <a:latin typeface="Arial"/>
                <a:ea typeface="Arial"/>
                <a:cs typeface="Arial"/>
              </a:rPr>
              <a:t>Input transduction</a:t>
            </a:r>
          </a:p>
          <a:p xmlns:a="http://schemas.openxmlformats.org/drawingml/2006/main">
            <a:pPr>
              <a:defRPr sz="16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33"/>
                </a:solidFill>
                <a:latin typeface="Arial"/>
                <a:ea typeface="Arial"/>
                <a:cs typeface="Arial"/>
              </a:rPr>
              <a:t>Surface text is mapped to candidate opcodes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F8CDF-4067-43FB-8303-531B2B6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Domain Instruction Set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Discrete opcodes, typed relations, and quantized decision weights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7346-A430-4B10-BE26-672A5570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transduction</a:t>
            </a:r>
          </a:p>
          <a:p xmlns:a="http://schemas.openxmlformats.org/drawingml/2006/main">
            <a:pPr>
              <a:defRPr sz="16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33"/>
                </a:solidFill>
                <a:latin typeface="Arial"/>
                <a:ea typeface="Arial"/>
                <a:cs typeface="Arial"/>
              </a:rPr>
              <a:t>A trace or terminal state is rendered for a user or consuming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B64A-6A01-4DEC-9E4F-F3EA94B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kernel’s integrity is conditional on correct input projection.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2E59A-B664-468C-A749-26996675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294A-28E0-45B4-9470-1D49F2C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5984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5077A-87F9-4B96-9C35-7BCD751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Domain Instruction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22686-94C6-48DB-B160-F8035C12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A normalized artifact for explicit execution and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9B40-E406-47BE-8EA3-644D77B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Stored entities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AD566-723E-4F09-8F01-0B6796B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Inferences link a canonical input form to a terminal state. Opcodes provide a finite instruction alphabet. An inference-opcode map records active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10560-52D9-442A-A4B2-E3F12CA7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409F-1FDD-44B9-B347-2BCCAD0E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quantized decision matrix maps active opcodes to terminal states. The kernel can validate a path, correlate similar cases, and discriminate between diverging 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C025E-5090-4D40-A4C0-81AF083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634C0-0C3D-4903-8768-51F64C0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4152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09238-6156-45F9-B781-93A3FA5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Build-time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A05C2-914A-46F7-B9F9-D249C58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method uses ground truth as compiler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AC677-4FAB-4458-B491-E370387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76375"/>
            <a:ext cx="857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Closed corpus with answer keys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Teacher rationales and explanations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Concept induction, canonicalization, and pruning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Compilation audits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Static lowering into a DIS and an extractor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FFBD2-48D1-437A-91AD-7DE0CEAA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FB861-1E14-4E10-924B-E36C90D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1146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3A79B-7A64-4869-99B4-6335E7A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Required audits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59CD-05C1-467E-8586-AB2A5CE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artifact should fail compilation when its structure is weak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9962F-4584-4FCE-97AE-FEA5E758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Coverage and concepts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7E672-41E8-4F53-8C49-88DB2EE2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Vocabulary saturation tests whether new decision-relevant concepts continue to appear. Entropy checks reject trivial label paraphrases. Contrastive weights identify discriminative opcodes.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1848A-EA7F-44F6-B399-17D5215C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B8334-3FCA-49EA-985A-387294A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Quantization stress tests whether the decision structure survives conversion from soft to discrete activations. Structural checks reject untyped transitions, conflicts, and invalid paths.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55886-0174-488E-B7CA-304DA5A7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38613-0BB9-4484-9D3B-258D526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22036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61135-668A-47C8-897D-A72D21D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 evidence from QSBC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7C29-DB68-4A1F-997F-D6D3052F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C3PA experiment supports concept compression; it does not solve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FF6B9-CD71-4548-8081-EC02206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D25A2-9CD7-4735-AC67-5BDEE3F4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Teacher rationales improved the 2,858-sample subset from 0.6559 accuracy to 0.7541. Removing singleton concepts reduced 8,706 concepts to 1,408 with a modest change to 0.7468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5D51F-2834-47CB-953F-7009C07B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Unresolved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BD413-3AA0-481A-925D-87AB8BE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naïve linear X-to-concept extractor achieved test Recall@3 of 0.098. Concept-driven classification fell to 0.6135 accuracy, below the concept-blind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03211-9A05-4A7E-BE01-750EF2A0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3CE4D-6C31-4CCC-82D6-ADA1BB1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7194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015F0-F9FF-4077-88EB-AB3FE93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Phase 3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A6C2-F235-4396-9991-91F0E019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input-to-opcode mapping is the central engineering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EB503-B117-4525-824F-6DD8825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Feasibility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4A6A-3A80-4050-9E8B-0C3A7AB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Train a stronger student model offline to determine whether the desired opcodes can be predicted without exposing terminal labels as a shortcut.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BC514-FE5E-4520-9269-43DE606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Static lowering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3B4C8-5EE5-4F16-AAC9-E072B12E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Distill the feasible structure into compact mechanisms such as lexical anchors, decision lists, and quantized cascades. The README presents this as a proposed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E2461-0940-41BC-9C95-03B1E1F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8E722-B4B6-4E01-9495-3208B73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9028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A753-B012-4DFE-A799-784F147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Integrity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ECC5E-B005-4FFA-9158-6A55DACA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Determinism in the core does not prove semantic correctness everywhere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38967-FC77-462C-A8E9-DE729F5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What the core can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15D66-87CD-4AAF-9159-F9A3023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path can be typed, finite, internally consistent, and exactly attributable once the active opcodes are correct.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C778A-3FAF-447D-970A-2BBD9D7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What it cannot establish alone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EE833-A10E-423C-B396-D9FBFFEA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Whether a transducer selected the right opcodes, whether the compiled source is complete, or whether the stipulated ground truth remains appropriate after a domain version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43D7E-993A-469D-AA72-B8DCAE8F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12873-462E-4878-AD78-AE987DE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5201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19A00-40EF-42AA-9E71-2D874ED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Deployment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C3C78-22AA-475C-AE8C-DC4F534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Targets, not demonstrated guarantees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E516E-861A-4314-A2A0-B6DB8B2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Target artifact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783EF-0199-4370-B7D8-266A174C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Less than 1 MiB total binary, less than 4 MiB dynamic memory, integer-only CPU execution, and an explicit out-of-domain halt.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F377C-F1F9-46A8-9656-AFB0E830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FCA60-9DB0-40BA-AD99-CCDB74AF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These targets depend on a successful static extractor. The decision head is compact; the extractor determines the practical size and latency of the complete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0D550-2A82-40F0-9065-C997376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49FD1-7291-4718-8D97-6532319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700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AC24D-6A74-439B-B10C-500AC40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Research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DD14-1AE5-4CD2-815C-6907306B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next work should test the claims at the level where they can 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9614-CB4A-484B-8104-AEC515FD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76375"/>
            <a:ext cx="9525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1. Scale saturation and entropy audits from the subset to the full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2. Test whether a stronger offline student can recover opcodes robustly.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3. Lower the successful structure into a static extractor.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4. Measure size, latency, coverage, and false-halt behavior on held-out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033"/>
                </a:solidFill>
                <a:latin typeface="Arial"/>
                <a:ea typeface="Arial"/>
                <a:cs typeface="Arial"/>
              </a:rPr>
              <a:t>5. Compare a second bounded domain with a clearer instructional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AA78-53EB-45A9-8D59-169FAC2F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6317-01F9-42C4-8B78-0DBB2FFA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748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2026-09-11T23:34:53.1520000Z</dcterms:created>
  <dcterms:modified xsi:type="dcterms:W3CDTF">2026-09-11T23:34:53.1520000Z</dcterms:modified>
</coreProperties>
</file>